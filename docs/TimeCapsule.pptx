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f7420112-3f85-89fa-915c-143b121e1872}">
          <p14:sldIdLst>
            <p14:sldId id="256"/>
            <p14:sldId id="257"/>
            <p14:sldId id="258"/>
            <p14:sldId id="259"/>
          </p14:sldIdLst>
        </p14:section>
        <p14:section name="Features" id="{60ba438c-85fc-4739-d710-53142a49f8b7}">
          <p14:sldIdLst>
            <p14:sldId id="260"/>
            <p14:sldId id="261"/>
          </p14:sldIdLst>
        </p14:section>
        <p14:section name="How it works" id="{786c88cd-a2a9-2b12-6564-e792da7884b9}">
          <p14:sldIdLst>
            <p14:sldId id="262"/>
            <p14:sldId id="263"/>
          </p14:sldIdLst>
        </p14:section>
        <p14:section name="Under the hood" id="{0129e0dd-87fe-1533-33e3-828417923ca6}">
          <p14:sldIdLst>
            <p14:sldId id="264"/>
            <p14:sldId id="265"/>
          </p14:sldIdLst>
        </p14:section>
        <p14:section name="Demo" id="{ca88a791-60d1-5d60-7af1-b7964cdafe6d}">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TimeCapsule in one sentence: a website where you can seal letters to your future self and read anonymous memories from other people. Two team members, two features, one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problem: people forget small moments. TimeCapsule answers two questions. Letters is private and personal. The Memory Wall is public and shared.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features share no data and neither depends on the other's code. Trupal built Letters, Heta built the Memory Wall.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personas from the proposal. Priya and Ravi use Letters. Sam, Maya and Leo use the Memory Wall.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letter form, then the list. Locked letters show a countdown. Once unlocked, an Open button appears.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Reactions are one per person per memory: click again to remove, click another to switch. The wall summary counts memories per place and year using a MongoDB aggregation.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browser calls the Express API with fetch. Express validates input and talks to MongoDB with the native driver. A small middleware gives every visitor a random ID in a cookie, so there are no accounts.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rule from the proposal. The server never sends the message before the unlock date, so there is nothing to find in the browser. Edits can only move the date later, never earlier.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person owns one collection and builds its full stack. Both support create, read, update and delete. Both use MongoDB aggregation for a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Points from the grading rubric: modules, ESLint, Prettier, Express with the native MongoDB driver, no Mongoose or template engines, CSS organised per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these four steps in the live demo or video. Show the locked letter returning nothing, then switch to the Memory Wall.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bg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rtlCol="0"/>
          <a:lstStyle>
            <a:lvl1pPr algn="l" indent="0" marL="0">
              <a:buNone/>
              <a:defRPr lang="en-US" sz="3400" b="1" dirty="0">
                <a:solidFill>
                  <a:schemeClr val="tx1"/>
                </a:solidFill>
                <a:latin typeface="Calibri" pitchFamily="34" charset="0"/>
                <a:ea typeface="Calibri" pitchFamily="34" charset="-122"/>
                <a:cs typeface="Calibri"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822960"/>
          </a:xfrm>
          <a:prstGeom prst="rect">
            <a:avLst/>
          </a:prstGeom>
          <a:noFill/>
          <a:ln/>
        </p:spPr>
        <p:txBody>
          <a:bodyPr wrap="square" rtlCol="0"/>
          <a:lstStyle>
            <a:lvl1pPr algn="l" indent="0" marL="0">
              <a:buNone/>
              <a:defRPr lang="en-US" sz="4000" b="1" dirty="0">
                <a:solidFill>
                  <a:schemeClr val="accent1"/>
                </a:solidFill>
                <a:latin typeface="Calibri" pitchFamily="34" charset="0"/>
                <a:ea typeface="Calibri" pitchFamily="34" charset="-122"/>
                <a:cs typeface="Calibri" pitchFamily="34" charset="-120"/>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3.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Decor pink"/>
          <p:cNvSpPr/>
          <p:nvPr/>
        </p:nvSpPr>
        <p:spPr>
          <a:xfrm>
            <a:off x="-502920" y="3749040"/>
            <a:ext cx="1371600" cy="1371600"/>
          </a:xfrm>
          <a:prstGeom prst="ellipse">
            <a:avLst/>
          </a:prstGeom>
          <a:solidFill>
            <a:schemeClr val="accent1"/>
          </a:solidFill>
          <a:ln/>
        </p:spPr>
      </p:sp>
      <p:sp>
        <p:nvSpPr>
          <p:cNvPr id="3" name="Decor mint"/>
          <p:cNvSpPr/>
          <p:nvPr/>
        </p:nvSpPr>
        <p:spPr>
          <a:xfrm>
            <a:off x="8412480" y="-411480"/>
            <a:ext cx="1005840" cy="1005840"/>
          </a:xfrm>
          <a:prstGeom prst="ellipse">
            <a:avLst/>
          </a:prstGeom>
          <a:solidFill>
            <a:schemeClr val="accent2"/>
          </a:solidFill>
          <a:ln/>
        </p:spPr>
      </p:sp>
      <p:sp>
        <p:nvSpPr>
          <p:cNvPr id="4" name="Decor butter"/>
          <p:cNvSpPr/>
          <p:nvPr/>
        </p:nvSpPr>
        <p:spPr>
          <a:xfrm>
            <a:off x="8321040" y="4297680"/>
            <a:ext cx="1463040" cy="1463040"/>
          </a:xfrm>
          <a:prstGeom prst="ellipse">
            <a:avLst/>
          </a:prstGeom>
          <a:solidFill>
            <a:schemeClr val="accent4"/>
          </a:solidFill>
          <a:ln/>
        </p:spPr>
      </p:sp>
      <p:sp>
        <p:nvSpPr>
          <p:cNvPr id="5" name="Title"/>
          <p:cNvSpPr txBox="1"/>
          <p:nvPr/>
        </p:nvSpPr>
        <p:spPr>
          <a:xfrm>
            <a:off x="548640" y="822960"/>
            <a:ext cx="4206240" cy="822960"/>
          </a:xfrm>
          <a:prstGeom prst="rect">
            <a:avLst/>
          </a:prstGeom>
          <a:noFill/>
          <a:ln/>
        </p:spPr>
        <p:txBody>
          <a:bodyPr wrap="square" lIns="0" tIns="0" rIns="0" bIns="0" rtlCol="0" anchor="ctr"/>
          <a:lstStyle/>
          <a:p>
            <a:pPr indent="0" marL="0">
              <a:buNone/>
            </a:pPr>
            <a:r>
              <a:rPr lang="en-US" sz="4800" b="1" dirty="0">
                <a:solidFill>
                  <a:schemeClr val="tx1"/>
                </a:solidFill>
              </a:rPr>
              <a:t>✿ TimeCapsule</a:t>
            </a:r>
            <a:endParaRPr lang="en-US" sz="4800" dirty="0"/>
          </a:p>
        </p:txBody>
      </p:sp>
      <p:sp>
        <p:nvSpPr>
          <p:cNvPr id="6" name="Subtitle"/>
          <p:cNvSpPr txBox="1"/>
          <p:nvPr/>
        </p:nvSpPr>
        <p:spPr>
          <a:xfrm>
            <a:off x="548640" y="1691640"/>
            <a:ext cx="4023360" cy="822960"/>
          </a:xfrm>
          <a:prstGeom prst="rect">
            <a:avLst/>
          </a:prstGeom>
          <a:noFill/>
          <a:ln/>
        </p:spPr>
        <p:txBody>
          <a:bodyPr wrap="square" lIns="0" tIns="0" rIns="0" bIns="0" rtlCol="0" anchor="t"/>
          <a:lstStyle/>
          <a:p>
            <a:pPr indent="0" marL="0">
              <a:buNone/>
            </a:pPr>
            <a:r>
              <a:rPr lang="en-US" sz="2200" dirty="0">
                <a:solidFill>
                  <a:schemeClr val="tx2"/>
                </a:solidFill>
              </a:rPr>
              <a:t>Letters to the Future &amp; Memory Wall</a:t>
            </a:r>
            <a:endParaRPr lang="en-US" sz="2200" dirty="0"/>
          </a:p>
        </p:txBody>
      </p:sp>
      <p:sp>
        <p:nvSpPr>
          <p:cNvPr id="7" name="Tagline"/>
          <p:cNvSpPr/>
          <p:nvPr/>
        </p:nvSpPr>
        <p:spPr>
          <a:xfrm>
            <a:off x="548640" y="2743200"/>
            <a:ext cx="2834640" cy="457200"/>
          </a:xfrm>
          <a:prstGeom prst="roundRect">
            <a:avLst>
              <a:gd name="adj" fmla="val 50000"/>
            </a:avLst>
          </a:prstGeom>
          <a:solidFill>
            <a:schemeClr val="accent1"/>
          </a:solidFill>
          <a:ln w="19050">
            <a:solidFill>
              <a:schemeClr val="tx1"/>
            </a:solidFill>
            <a:prstDash val="solid"/>
          </a:ln>
          <a:effectLst>
            <a:outerShdw sx="100000" sy="100000" kx="0" ky="0" algn="bl" rotWithShape="0" blurRad="101600" dist="38100" dir="2700000">
              <a:srgbClr val="3E2F5B">
                <a:alpha val="100000"/>
              </a:srgbClr>
            </a:outerShdw>
          </a:effectLst>
        </p:spPr>
      </p:sp>
      <p:sp>
        <p:nvSpPr>
          <p:cNvPr id="8" name="Tagline text"/>
          <p:cNvSpPr txBox="1"/>
          <p:nvPr/>
        </p:nvSpPr>
        <p:spPr>
          <a:xfrm>
            <a:off x="548640" y="2743200"/>
            <a:ext cx="2834640" cy="457200"/>
          </a:xfrm>
          <a:prstGeom prst="rect">
            <a:avLst/>
          </a:prstGeom>
          <a:noFill/>
          <a:ln/>
        </p:spPr>
        <p:txBody>
          <a:bodyPr wrap="square" lIns="0" tIns="0" rIns="0" bIns="0" rtlCol="0" anchor="ctr"/>
          <a:lstStyle/>
          <a:p>
            <a:pPr algn="ctr" indent="0" marL="0">
              <a:buNone/>
            </a:pPr>
            <a:r>
              <a:rPr lang="en-US" sz="1600" b="1" dirty="0">
                <a:solidFill>
                  <a:schemeClr val="tx1"/>
                </a:solidFill>
              </a:rPr>
              <a:t>Hold on to this moment</a:t>
            </a:r>
            <a:endParaRPr lang="en-US" sz="1600" dirty="0"/>
          </a:p>
        </p:txBody>
      </p:sp>
      <p:sp>
        <p:nvSpPr>
          <p:cNvPr id="9" name="Authors"/>
          <p:cNvSpPr txBox="1"/>
          <p:nvPr/>
        </p:nvSpPr>
        <p:spPr>
          <a:xfrm>
            <a:off x="548640" y="3520440"/>
            <a:ext cx="4023360" cy="914400"/>
          </a:xfrm>
          <a:prstGeom prst="rect">
            <a:avLst/>
          </a:prstGeom>
          <a:noFill/>
          <a:ln/>
        </p:spPr>
        <p:txBody>
          <a:bodyPr wrap="square" lIns="0" tIns="0" rIns="0" bIns="0" rtlCol="0" anchor="t"/>
          <a:lstStyle/>
          <a:p>
            <a:pPr indent="0" marL="0">
              <a:buNone/>
            </a:pPr>
            <a:r>
              <a:rPr lang="en-US" sz="1400" dirty="0">
                <a:solidFill>
                  <a:schemeClr val="tx1"/>
                </a:solidFill>
              </a:rPr>
              <a:t>Trupal Jageshkumar Patel</a:t>
            </a:r>
            <a:endParaRPr lang="en-US" sz="1400" dirty="0"/>
          </a:p>
          <a:p>
            <a:pPr indent="0" marL="0">
              <a:buNone/>
            </a:pPr>
            <a:r>
              <a:rPr lang="en-US" sz="1400" dirty="0">
                <a:solidFill>
                  <a:schemeClr val="tx1"/>
                </a:solidFill>
              </a:rPr>
              <a:t>Heta Vimaleshkumar Patel</a:t>
            </a:r>
            <a:endParaRPr lang="en-US" sz="1400" dirty="0"/>
          </a:p>
          <a:p>
            <a:pPr indent="0" marL="0">
              <a:buNone/>
            </a:pPr>
            <a:r>
              <a:rPr lang="en-US" sz="1400" dirty="0">
                <a:solidFill>
                  <a:schemeClr val="tx1"/>
                </a:solidFill>
              </a:rPr>
              <a:t>Project 2 · Node + Express + MongoDB</a:t>
            </a:r>
            <a:endParaRPr lang="en-US" sz="1400" dirty="0"/>
          </a:p>
        </p:txBody>
      </p:sp>
      <p:sp>
        <p:nvSpPr>
          <p:cNvPr id="10" name="Home screenshot frame"/>
          <p:cNvSpPr/>
          <p:nvPr/>
        </p:nvSpPr>
        <p:spPr>
          <a:xfrm>
            <a:off x="4700016" y="1042416"/>
            <a:ext cx="3950208" cy="2390242"/>
          </a:xfrm>
          <a:prstGeom prst="roundRect">
            <a:avLst>
              <a:gd name="adj" fmla="val 4591"/>
            </a:avLst>
          </a:prstGeom>
          <a:solidFill>
            <a:schemeClr val="bg1"/>
          </a:solidFill>
          <a:ln w="22225">
            <a:solidFill>
              <a:schemeClr val="tx1"/>
            </a:solidFill>
            <a:prstDash val="solid"/>
          </a:ln>
          <a:effectLst>
            <a:outerShdw sx="100000" sy="100000" kx="0" ky="0" algn="bl" rotWithShape="0" blurRad="101600" dist="38100" dir="2700000">
              <a:srgbClr val="3E2F5B">
                <a:alpha val="100000"/>
              </a:srgbClr>
            </a:outerShdw>
          </a:effectLst>
        </p:spPr>
      </p:sp>
      <p:pic>
        <p:nvPicPr>
          <p:cNvPr id="11" name="Home screenshot" descr="TimeCapsule home page with how it works cards">    </p:cNvPr>
          <p:cNvPicPr>
            <a:picLocks noChangeAspect="1"/>
          </p:cNvPicPr>
          <p:nvPr/>
        </p:nvPicPr>
        <p:blipFill>
          <a:blip r:embed="rId1"/>
          <a:stretch>
            <a:fillRect/>
          </a:stretch>
        </p:blipFill>
        <p:spPr>
          <a:xfrm>
            <a:off x="4754880" y="1097280"/>
            <a:ext cx="3840480" cy="228051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latin typeface="Calibri" pitchFamily="34" charset="0"/>
                <a:ea typeface="Calibri" pitchFamily="34" charset="-122"/>
                <a:cs typeface="Calibri" pitchFamily="34" charset="-120"/>
              </a:rPr>
              <a:t>Two questions, one app</a:t>
            </a:r>
            <a:endParaRPr lang="en-US" sz="3400" dirty="0"/>
          </a:p>
        </p:txBody>
      </p:sp>
      <p:sp>
        <p:nvSpPr>
          <p:cNvPr id="3" name="Question 1 card"/>
          <p:cNvSpPr/>
          <p:nvPr/>
        </p:nvSpPr>
        <p:spPr>
          <a:xfrm>
            <a:off x="548640" y="1417320"/>
            <a:ext cx="3840480" cy="2148840"/>
          </a:xfrm>
          <a:prstGeom prst="roundRect">
            <a:avLst>
              <a:gd name="adj" fmla="val 7660"/>
            </a:avLst>
          </a:prstGeom>
          <a:solidFill>
            <a:schemeClr val="accent3"/>
          </a:solidFill>
          <a:ln w="22225">
            <a:solidFill>
              <a:schemeClr val="tx1"/>
            </a:solidFill>
            <a:prstDash val="solid"/>
          </a:ln>
          <a:effectLst>
            <a:outerShdw sx="100000" sy="100000" kx="0" ky="0" algn="bl" rotWithShape="0" blurRad="101600" dist="38100" dir="2700000">
              <a:srgbClr val="3E2F5B">
                <a:alpha val="100000"/>
              </a:srgbClr>
            </a:outerShdw>
          </a:effectLst>
        </p:spPr>
      </p:sp>
      <p:sp>
        <p:nvSpPr>
          <p:cNvPr id="4" name="Question 2 card"/>
          <p:cNvSpPr/>
          <p:nvPr/>
        </p:nvSpPr>
        <p:spPr>
          <a:xfrm>
            <a:off x="4754880" y="1417320"/>
            <a:ext cx="3840480" cy="2148840"/>
          </a:xfrm>
          <a:prstGeom prst="roundRect">
            <a:avLst>
              <a:gd name="adj" fmla="val 7660"/>
            </a:avLst>
          </a:prstGeom>
          <a:solidFill>
            <a:schemeClr val="accent2"/>
          </a:solidFill>
          <a:ln w="22225">
            <a:solidFill>
              <a:schemeClr val="tx1"/>
            </a:solidFill>
            <a:prstDash val="solid"/>
          </a:ln>
          <a:effectLst>
            <a:outerShdw sx="100000" sy="100000" kx="0" ky="0" algn="bl" rotWithShape="0" blurRad="101600" dist="38100" dir="2700000">
              <a:srgbClr val="3E2F5B">
                <a:alpha val="100000"/>
              </a:srgbClr>
            </a:outerShdw>
          </a:effectLst>
        </p:spPr>
      </p:sp>
      <p:sp>
        <p:nvSpPr>
          <p:cNvPr id="5" name="Envelope icon circle"/>
          <p:cNvSpPr/>
          <p:nvPr/>
        </p:nvSpPr>
        <p:spPr>
          <a:xfrm>
            <a:off x="777240" y="1645920"/>
            <a:ext cx="640080" cy="640080"/>
          </a:xfrm>
          <a:prstGeom prst="ellipse">
            <a:avLst/>
          </a:prstGeom>
          <a:solidFill>
            <a:schemeClr val="bg1"/>
          </a:solidFill>
          <a:ln w="19050">
            <a:solidFill>
              <a:schemeClr val="tx1"/>
            </a:solidFill>
            <a:prstDash val="solid"/>
          </a:ln>
          <a:effectLst>
            <a:outerShdw sx="100000" sy="100000" kx="0" ky="0" algn="bl" rotWithShape="0" blurRad="101600" dist="38100" dir="2700000">
              <a:srgbClr val="3E2F5B">
                <a:alpha val="100000"/>
              </a:srgbClr>
            </a:outerShdw>
          </a:effectLst>
        </p:spPr>
      </p:sp>
      <p:pic>
        <p:nvPicPr>
          <p:cNvPr id="6" name="Envelope icon" descr="Envelope icon">    </p:cNvPr>
          <p:cNvPicPr>
            <a:picLocks noChangeAspect="1"/>
          </p:cNvPicPr>
          <p:nvPr/>
        </p:nvPicPr>
        <p:blipFill>
          <a:blip r:embed="rId1"/>
          <a:stretch>
            <a:fillRect/>
          </a:stretch>
        </p:blipFill>
        <p:spPr>
          <a:xfrm>
            <a:off x="937260" y="1805940"/>
            <a:ext cx="320040" cy="320040"/>
          </a:xfrm>
          <a:prstGeom prst="rect">
            <a:avLst/>
          </a:prstGeom>
        </p:spPr>
      </p:pic>
      <p:sp>
        <p:nvSpPr>
          <p:cNvPr id="7" name="Map icon circle"/>
          <p:cNvSpPr/>
          <p:nvPr/>
        </p:nvSpPr>
        <p:spPr>
          <a:xfrm>
            <a:off x="4983480" y="1645920"/>
            <a:ext cx="640080" cy="640080"/>
          </a:xfrm>
          <a:prstGeom prst="ellipse">
            <a:avLst/>
          </a:prstGeom>
          <a:solidFill>
            <a:schemeClr val="bg1"/>
          </a:solidFill>
          <a:ln w="19050">
            <a:solidFill>
              <a:schemeClr val="tx1"/>
            </a:solidFill>
            <a:prstDash val="solid"/>
          </a:ln>
          <a:effectLst>
            <a:outerShdw sx="100000" sy="100000" kx="0" ky="0" algn="bl" rotWithShape="0" blurRad="101600" dist="38100" dir="2700000">
              <a:srgbClr val="3E2F5B">
                <a:alpha val="100000"/>
              </a:srgbClr>
            </a:outerShdw>
          </a:effectLst>
        </p:spPr>
      </p:sp>
      <p:pic>
        <p:nvPicPr>
          <p:cNvPr id="8" name="Map icon" descr="Map icon">    </p:cNvPr>
          <p:cNvPicPr>
            <a:picLocks noChangeAspect="1"/>
          </p:cNvPicPr>
          <p:nvPr/>
        </p:nvPicPr>
        <p:blipFill>
          <a:blip r:embed="rId2"/>
          <a:stretch>
            <a:fillRect/>
          </a:stretch>
        </p:blipFill>
        <p:spPr>
          <a:xfrm>
            <a:off x="5143500" y="1805940"/>
            <a:ext cx="320040" cy="320040"/>
          </a:xfrm>
          <a:prstGeom prst="rect">
            <a:avLst/>
          </a:prstGeom>
        </p:spPr>
      </p:pic>
      <p:sp>
        <p:nvSpPr>
          <p:cNvPr id="9" name="Question 1"/>
          <p:cNvSpPr txBox="1"/>
          <p:nvPr/>
        </p:nvSpPr>
        <p:spPr>
          <a:xfrm>
            <a:off x="777240" y="2423160"/>
            <a:ext cx="3383280" cy="914400"/>
          </a:xfrm>
          <a:prstGeom prst="rect">
            <a:avLst/>
          </a:prstGeom>
          <a:noFill/>
          <a:ln/>
        </p:spPr>
        <p:txBody>
          <a:bodyPr wrap="square" lIns="0" tIns="0" rIns="0" bIns="0" rtlCol="0" anchor="t"/>
          <a:lstStyle/>
          <a:p>
            <a:pPr indent="0" marL="0">
              <a:buNone/>
            </a:pPr>
            <a:r>
              <a:rPr lang="en-US" sz="2000" b="1" dirty="0">
                <a:solidFill>
                  <a:schemeClr val="tx1"/>
                </a:solidFill>
              </a:rPr>
              <a:t>What would I want to tell my future self?</a:t>
            </a:r>
            <a:endParaRPr lang="en-US" sz="2000" dirty="0"/>
          </a:p>
        </p:txBody>
      </p:sp>
      <p:sp>
        <p:nvSpPr>
          <p:cNvPr id="10" name="Question 2"/>
          <p:cNvSpPr txBox="1"/>
          <p:nvPr/>
        </p:nvSpPr>
        <p:spPr>
          <a:xfrm>
            <a:off x="4983480" y="2423160"/>
            <a:ext cx="3383280" cy="914400"/>
          </a:xfrm>
          <a:prstGeom prst="rect">
            <a:avLst/>
          </a:prstGeom>
          <a:noFill/>
          <a:ln/>
        </p:spPr>
        <p:txBody>
          <a:bodyPr wrap="square" lIns="0" tIns="0" rIns="0" bIns="0" rtlCol="0" anchor="t"/>
          <a:lstStyle/>
          <a:p>
            <a:pPr indent="0" marL="0">
              <a:buNone/>
            </a:pPr>
            <a:r>
              <a:rPr lang="en-US" sz="2000" b="1" dirty="0">
                <a:solidFill>
                  <a:schemeClr val="tx1"/>
                </a:solidFill>
              </a:rPr>
              <a:t>What are others remembering from the same places and years?</a:t>
            </a:r>
            <a:endParaRPr lang="en-US" sz="2000" dirty="0"/>
          </a:p>
        </p:txBody>
      </p:sp>
      <p:sp>
        <p:nvSpPr>
          <p:cNvPr id="11" name="Why"/>
          <p:cNvSpPr txBox="1"/>
          <p:nvPr/>
        </p:nvSpPr>
        <p:spPr>
          <a:xfrm>
            <a:off x="548640" y="3931920"/>
            <a:ext cx="7680960" cy="640080"/>
          </a:xfrm>
          <a:prstGeom prst="rect">
            <a:avLst/>
          </a:prstGeom>
          <a:noFill/>
          <a:ln/>
        </p:spPr>
        <p:txBody>
          <a:bodyPr wrap="square" lIns="0" tIns="0" rIns="0" bIns="0" rtlCol="0" anchor="ctr"/>
          <a:lstStyle/>
          <a:p>
            <a:pPr indent="0" marL="0">
              <a:buNone/>
            </a:pPr>
            <a:r>
              <a:rPr lang="en-US" sz="1600" dirty="0">
                <a:solidFill>
                  <a:schemeClr val="tx2"/>
                </a:solidFill>
              </a:rPr>
              <a:t>Life moves fast. Small thoughts, goals and moments from a semester, a move or a milestone are easy to forget.</a:t>
            </a:r>
            <a:endParaRPr lang="en-US" sz="16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latin typeface="Calibri" pitchFamily="34" charset="0"/>
                <a:ea typeface="Calibri" pitchFamily="34" charset="-122"/>
                <a:cs typeface="Calibri" pitchFamily="34" charset="-120"/>
              </a:rPr>
              <a:t>Two independent features</a:t>
            </a:r>
            <a:endParaRPr lang="en-US" sz="3400" dirty="0"/>
          </a:p>
        </p:txBody>
      </p:sp>
      <p:sp>
        <p:nvSpPr>
          <p:cNvPr id="3" name="Letters card"/>
          <p:cNvSpPr/>
          <p:nvPr/>
        </p:nvSpPr>
        <p:spPr>
          <a:xfrm>
            <a:off x="548640" y="1371600"/>
            <a:ext cx="3840480" cy="2651760"/>
          </a:xfrm>
          <a:prstGeom prst="roundRect">
            <a:avLst>
              <a:gd name="adj" fmla="val 6207"/>
            </a:avLst>
          </a:prstGeom>
          <a:solidFill>
            <a:schemeClr val="accent3"/>
          </a:solidFill>
          <a:ln w="22225">
            <a:solidFill>
              <a:schemeClr val="tx1"/>
            </a:solidFill>
            <a:prstDash val="solid"/>
          </a:ln>
          <a:effectLst>
            <a:outerShdw sx="100000" sy="100000" kx="0" ky="0" algn="bl" rotWithShape="0" blurRad="101600" dist="38100" dir="2700000">
              <a:srgbClr val="3E2F5B">
                <a:alpha val="100000"/>
              </a:srgbClr>
            </a:outerShdw>
          </a:effectLst>
        </p:spPr>
      </p:sp>
      <p:sp>
        <p:nvSpPr>
          <p:cNvPr id="4" name="Memory card"/>
          <p:cNvSpPr/>
          <p:nvPr/>
        </p:nvSpPr>
        <p:spPr>
          <a:xfrm>
            <a:off x="4754880" y="1371600"/>
            <a:ext cx="3840480" cy="2651760"/>
          </a:xfrm>
          <a:prstGeom prst="roundRect">
            <a:avLst>
              <a:gd name="adj" fmla="val 6207"/>
            </a:avLst>
          </a:prstGeom>
          <a:solidFill>
            <a:schemeClr val="accent2"/>
          </a:solidFill>
          <a:ln w="22225">
            <a:solidFill>
              <a:schemeClr val="tx1"/>
            </a:solidFill>
            <a:prstDash val="solid"/>
          </a:ln>
          <a:effectLst>
            <a:outerShdw sx="100000" sy="100000" kx="0" ky="0" algn="bl" rotWithShape="0" blurRad="101600" dist="38100" dir="2700000">
              <a:srgbClr val="3E2F5B">
                <a:alpha val="100000"/>
              </a:srgbClr>
            </a:outerShdw>
          </a:effectLst>
        </p:spPr>
      </p:sp>
      <p:sp>
        <p:nvSpPr>
          <p:cNvPr id="5" name="Lock icon circle"/>
          <p:cNvSpPr/>
          <p:nvPr/>
        </p:nvSpPr>
        <p:spPr>
          <a:xfrm>
            <a:off x="777240" y="1554480"/>
            <a:ext cx="594360" cy="594360"/>
          </a:xfrm>
          <a:prstGeom prst="ellipse">
            <a:avLst/>
          </a:prstGeom>
          <a:solidFill>
            <a:schemeClr val="bg1"/>
          </a:solidFill>
          <a:ln w="19050">
            <a:solidFill>
              <a:schemeClr val="tx1"/>
            </a:solidFill>
            <a:prstDash val="solid"/>
          </a:ln>
          <a:effectLst>
            <a:outerShdw sx="100000" sy="100000" kx="0" ky="0" algn="bl" rotWithShape="0" blurRad="101600" dist="38100" dir="2700000">
              <a:srgbClr val="3E2F5B">
                <a:alpha val="100000"/>
              </a:srgbClr>
            </a:outerShdw>
          </a:effectLst>
        </p:spPr>
      </p:sp>
      <p:pic>
        <p:nvPicPr>
          <p:cNvPr id="6" name="Lock icon" descr="Lock icon">    </p:cNvPr>
          <p:cNvPicPr>
            <a:picLocks noChangeAspect="1"/>
          </p:cNvPicPr>
          <p:nvPr/>
        </p:nvPicPr>
        <p:blipFill>
          <a:blip r:embed="rId1"/>
          <a:stretch>
            <a:fillRect/>
          </a:stretch>
        </p:blipFill>
        <p:spPr>
          <a:xfrm>
            <a:off x="925830" y="1703070"/>
            <a:ext cx="297180" cy="297180"/>
          </a:xfrm>
          <a:prstGeom prst="rect">
            <a:avLst/>
          </a:prstGeom>
        </p:spPr>
      </p:pic>
      <p:sp>
        <p:nvSpPr>
          <p:cNvPr id="7" name="Heart icon circle"/>
          <p:cNvSpPr/>
          <p:nvPr/>
        </p:nvSpPr>
        <p:spPr>
          <a:xfrm>
            <a:off x="4983480" y="1554480"/>
            <a:ext cx="594360" cy="594360"/>
          </a:xfrm>
          <a:prstGeom prst="ellipse">
            <a:avLst/>
          </a:prstGeom>
          <a:solidFill>
            <a:schemeClr val="bg1"/>
          </a:solidFill>
          <a:ln w="19050">
            <a:solidFill>
              <a:schemeClr val="tx1"/>
            </a:solidFill>
            <a:prstDash val="solid"/>
          </a:ln>
          <a:effectLst>
            <a:outerShdw sx="100000" sy="100000" kx="0" ky="0" algn="bl" rotWithShape="0" blurRad="101600" dist="38100" dir="2700000">
              <a:srgbClr val="3E2F5B">
                <a:alpha val="100000"/>
              </a:srgbClr>
            </a:outerShdw>
          </a:effectLst>
        </p:spPr>
      </p:sp>
      <p:pic>
        <p:nvPicPr>
          <p:cNvPr id="8" name="Heart icon" descr="Heart icon">    </p:cNvPr>
          <p:cNvPicPr>
            <a:picLocks noChangeAspect="1"/>
          </p:cNvPicPr>
          <p:nvPr/>
        </p:nvPicPr>
        <p:blipFill>
          <a:blip r:embed="rId2"/>
          <a:stretch>
            <a:fillRect/>
          </a:stretch>
        </p:blipFill>
        <p:spPr>
          <a:xfrm>
            <a:off x="5132070" y="1703070"/>
            <a:ext cx="297180" cy="297180"/>
          </a:xfrm>
          <a:prstGeom prst="rect">
            <a:avLst/>
          </a:prstGeom>
        </p:spPr>
      </p:pic>
      <p:sp>
        <p:nvSpPr>
          <p:cNvPr id="9" name="Letters heading"/>
          <p:cNvSpPr txBox="1"/>
          <p:nvPr/>
        </p:nvSpPr>
        <p:spPr>
          <a:xfrm>
            <a:off x="1508760" y="1554480"/>
            <a:ext cx="2743200" cy="594360"/>
          </a:xfrm>
          <a:prstGeom prst="rect">
            <a:avLst/>
          </a:prstGeom>
          <a:noFill/>
          <a:ln/>
        </p:spPr>
        <p:txBody>
          <a:bodyPr wrap="square" lIns="0" tIns="0" rIns="0" bIns="0" rtlCol="0" anchor="ctr"/>
          <a:lstStyle/>
          <a:p>
            <a:pPr algn="l" indent="0" marL="0">
              <a:buNone/>
            </a:pPr>
            <a:r>
              <a:rPr lang="en-US" sz="2000" b="1" dirty="0">
                <a:solidFill>
                  <a:schemeClr val="tx1"/>
                </a:solidFill>
              </a:rPr>
              <a:t>Letters to Future Me</a:t>
            </a:r>
            <a:endParaRPr lang="en-US" sz="2000" dirty="0"/>
          </a:p>
        </p:txBody>
      </p:sp>
      <p:sp>
        <p:nvSpPr>
          <p:cNvPr id="10" name="Memory heading"/>
          <p:cNvSpPr txBox="1"/>
          <p:nvPr/>
        </p:nvSpPr>
        <p:spPr>
          <a:xfrm>
            <a:off x="5715000" y="1554480"/>
            <a:ext cx="2743200" cy="594360"/>
          </a:xfrm>
          <a:prstGeom prst="rect">
            <a:avLst/>
          </a:prstGeom>
          <a:noFill/>
          <a:ln/>
        </p:spPr>
        <p:txBody>
          <a:bodyPr wrap="square" lIns="0" tIns="0" rIns="0" bIns="0" rtlCol="0" anchor="ctr"/>
          <a:lstStyle/>
          <a:p>
            <a:pPr algn="l" indent="0" marL="0">
              <a:buNone/>
            </a:pPr>
            <a:r>
              <a:rPr lang="en-US" sz="2000" b="1" dirty="0">
                <a:solidFill>
                  <a:schemeClr val="tx1"/>
                </a:solidFill>
              </a:rPr>
              <a:t>Memory Wall</a:t>
            </a:r>
            <a:endParaRPr lang="en-US" sz="2000" dirty="0"/>
          </a:p>
        </p:txBody>
      </p:sp>
      <p:sp>
        <p:nvSpPr>
          <p:cNvPr id="11" name="Letters list"/>
          <p:cNvSpPr txBox="1"/>
          <p:nvPr/>
        </p:nvSpPr>
        <p:spPr>
          <a:xfrm>
            <a:off x="777240" y="2377440"/>
            <a:ext cx="3383280" cy="192024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chemeClr val="tx1"/>
                </a:solidFill>
              </a:rPr>
              <a:t>Write a letter, pick an unlock date</a:t>
            </a:r>
            <a:endParaRPr lang="en-US" sz="1600" dirty="0"/>
          </a:p>
          <a:p>
            <a:pPr marL="203200" indent="-203200">
              <a:spcAft>
                <a:spcPts val="800"/>
              </a:spcAft>
              <a:buSzPct val="100000"/>
              <a:buChar char="•"/>
            </a:pPr>
            <a:r>
              <a:rPr lang="en-US" sz="1600" dirty="0">
                <a:solidFill>
                  <a:schemeClr val="tx1"/>
                </a:solidFill>
              </a:rPr>
              <a:t>Server hides it until then</a:t>
            </a:r>
            <a:endParaRPr lang="en-US" sz="1600" dirty="0"/>
          </a:p>
          <a:p>
            <a:pPr marL="203200" indent="-203200">
              <a:spcAft>
                <a:spcPts val="800"/>
              </a:spcAft>
              <a:buSzPct val="100000"/>
              <a:buChar char="•"/>
            </a:pPr>
            <a:r>
              <a:rPr lang="en-US" sz="1600" dirty="0">
                <a:solidFill>
                  <a:schemeClr val="tx1"/>
                </a:solidFill>
              </a:rPr>
              <a:t>Private to you</a:t>
            </a:r>
            <a:endParaRPr lang="en-US" sz="1600" dirty="0"/>
          </a:p>
        </p:txBody>
      </p:sp>
      <p:sp>
        <p:nvSpPr>
          <p:cNvPr id="12" name="Memory list"/>
          <p:cNvSpPr txBox="1"/>
          <p:nvPr/>
        </p:nvSpPr>
        <p:spPr>
          <a:xfrm>
            <a:off x="4983480" y="2377440"/>
            <a:ext cx="3383280" cy="192024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chemeClr val="tx1"/>
                </a:solidFill>
              </a:rPr>
              <a:t>Post short anonymous memories</a:t>
            </a:r>
            <a:endParaRPr lang="en-US" sz="1600" dirty="0"/>
          </a:p>
          <a:p>
            <a:pPr marL="203200" indent="-203200">
              <a:spcAft>
                <a:spcPts val="800"/>
              </a:spcAft>
              <a:buSzPct val="100000"/>
              <a:buChar char="•"/>
            </a:pPr>
            <a:r>
              <a:rPr lang="en-US" sz="1600" dirty="0">
                <a:solidFill>
                  <a:schemeClr val="tx1"/>
                </a:solidFill>
              </a:rPr>
              <a:t>Tag by place, year, season</a:t>
            </a:r>
            <a:endParaRPr lang="en-US" sz="1600" dirty="0"/>
          </a:p>
          <a:p>
            <a:pPr marL="203200" indent="-203200">
              <a:spcAft>
                <a:spcPts val="800"/>
              </a:spcAft>
              <a:buSzPct val="100000"/>
              <a:buChar char="•"/>
            </a:pPr>
            <a:r>
              <a:rPr lang="en-US" sz="1600" dirty="0">
                <a:solidFill>
                  <a:schemeClr val="tx1"/>
                </a:solidFill>
              </a:rPr>
              <a:t>Browse, filter, react</a:t>
            </a:r>
            <a:endParaRPr lang="en-US" sz="16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latin typeface="Calibri" pitchFamily="34" charset="0"/>
                <a:ea typeface="Calibri" pitchFamily="34" charset="-122"/>
                <a:cs typeface="Calibri" pitchFamily="34" charset="-120"/>
              </a:rPr>
              <a:t>Who it is for</a:t>
            </a:r>
            <a:endParaRPr lang="en-US" sz="3400" dirty="0"/>
          </a:p>
        </p:txBody>
      </p:sp>
      <p:sp>
        <p:nvSpPr>
          <p:cNvPr id="3" name="Priya card"/>
          <p:cNvSpPr/>
          <p:nvPr/>
        </p:nvSpPr>
        <p:spPr>
          <a:xfrm>
            <a:off x="548640" y="1325880"/>
            <a:ext cx="2560320" cy="1508760"/>
          </a:xfrm>
          <a:prstGeom prst="roundRect">
            <a:avLst>
              <a:gd name="adj" fmla="val 10909"/>
            </a:avLst>
          </a:prstGeom>
          <a:solidFill>
            <a:schemeClr val="accent3"/>
          </a:solidFill>
          <a:ln w="22225">
            <a:solidFill>
              <a:schemeClr val="tx1"/>
            </a:solidFill>
            <a:prstDash val="solid"/>
          </a:ln>
          <a:effectLst>
            <a:outerShdw sx="100000" sy="100000" kx="0" ky="0" algn="bl" rotWithShape="0" blurRad="101600" dist="38100" dir="2700000">
              <a:srgbClr val="3E2F5B">
                <a:alpha val="100000"/>
              </a:srgbClr>
            </a:outerShdw>
          </a:effectLst>
        </p:spPr>
      </p:sp>
      <p:sp>
        <p:nvSpPr>
          <p:cNvPr id="4" name="Priya text"/>
          <p:cNvSpPr txBox="1"/>
          <p:nvPr/>
        </p:nvSpPr>
        <p:spPr>
          <a:xfrm>
            <a:off x="731520" y="1463040"/>
            <a:ext cx="2194560" cy="1234440"/>
          </a:xfrm>
          <a:prstGeom prst="rect">
            <a:avLst/>
          </a:prstGeom>
          <a:noFill/>
          <a:ln/>
        </p:spPr>
        <p:txBody>
          <a:bodyPr wrap="square" lIns="0" tIns="0" rIns="0" bIns="0" rtlCol="0" anchor="t"/>
          <a:lstStyle/>
          <a:p>
            <a:pPr indent="0" marL="0">
              <a:buNone/>
            </a:pPr>
            <a:r>
              <a:rPr lang="en-US" sz="1800" b="1" dirty="0">
                <a:solidFill>
                  <a:schemeClr val="tx1"/>
                </a:solidFill>
              </a:rPr>
              <a:t>Priya</a:t>
            </a:r>
            <a:endParaRPr lang="en-US" sz="1800" dirty="0"/>
          </a:p>
          <a:p>
            <a:pPr indent="0" marL="0">
              <a:buNone/>
            </a:pPr>
            <a:r>
              <a:rPr lang="en-US" sz="1400" b="1" dirty="0">
                <a:solidFill>
                  <a:schemeClr val="tx1"/>
                </a:solidFill>
              </a:rPr>
              <a:t>Graduating student</a:t>
            </a:r>
            <a:endParaRPr lang="en-US" sz="1800" dirty="0"/>
          </a:p>
          <a:p>
            <a:pPr indent="0" marL="0">
              <a:buNone/>
            </a:pPr>
            <a:r>
              <a:rPr lang="en-US" sz="1400" dirty="0">
                <a:solidFill>
                  <a:schemeClr val="tx1"/>
                </a:solidFill>
              </a:rPr>
              <a:t>Letter to open on graduation day</a:t>
            </a:r>
            <a:endParaRPr lang="en-US" sz="1800" dirty="0"/>
          </a:p>
        </p:txBody>
      </p:sp>
      <p:sp>
        <p:nvSpPr>
          <p:cNvPr id="5" name="Ravi card"/>
          <p:cNvSpPr/>
          <p:nvPr/>
        </p:nvSpPr>
        <p:spPr>
          <a:xfrm>
            <a:off x="3383280" y="1325880"/>
            <a:ext cx="2560320" cy="1508760"/>
          </a:xfrm>
          <a:prstGeom prst="roundRect">
            <a:avLst>
              <a:gd name="adj" fmla="val 10909"/>
            </a:avLst>
          </a:prstGeom>
          <a:solidFill>
            <a:schemeClr val="accent3"/>
          </a:solidFill>
          <a:ln w="22225">
            <a:solidFill>
              <a:schemeClr val="tx1"/>
            </a:solidFill>
            <a:prstDash val="solid"/>
          </a:ln>
          <a:effectLst>
            <a:outerShdw sx="100000" sy="100000" kx="0" ky="0" algn="bl" rotWithShape="0" blurRad="101600" dist="38100" dir="2700000">
              <a:srgbClr val="3E2F5B">
                <a:alpha val="100000"/>
              </a:srgbClr>
            </a:outerShdw>
          </a:effectLst>
        </p:spPr>
      </p:sp>
      <p:sp>
        <p:nvSpPr>
          <p:cNvPr id="6" name="Ravi text"/>
          <p:cNvSpPr txBox="1"/>
          <p:nvPr/>
        </p:nvSpPr>
        <p:spPr>
          <a:xfrm>
            <a:off x="3566160" y="1463040"/>
            <a:ext cx="2194560" cy="1234440"/>
          </a:xfrm>
          <a:prstGeom prst="rect">
            <a:avLst/>
          </a:prstGeom>
          <a:noFill/>
          <a:ln/>
        </p:spPr>
        <p:txBody>
          <a:bodyPr wrap="square" lIns="0" tIns="0" rIns="0" bIns="0" rtlCol="0" anchor="t"/>
          <a:lstStyle/>
          <a:p>
            <a:pPr indent="0" marL="0">
              <a:buNone/>
            </a:pPr>
            <a:r>
              <a:rPr lang="en-US" sz="1800" b="1" dirty="0">
                <a:solidFill>
                  <a:schemeClr val="tx1"/>
                </a:solidFill>
              </a:rPr>
              <a:t>Ravi</a:t>
            </a:r>
            <a:endParaRPr lang="en-US" sz="1800" dirty="0"/>
          </a:p>
          <a:p>
            <a:pPr indent="0" marL="0">
              <a:buNone/>
            </a:pPr>
            <a:r>
              <a:rPr lang="en-US" sz="1400" b="1" dirty="0">
                <a:solidFill>
                  <a:schemeClr val="tx1"/>
                </a:solidFill>
              </a:rPr>
              <a:t>New arrival in Boston</a:t>
            </a:r>
            <a:endParaRPr lang="en-US" sz="1800" dirty="0"/>
          </a:p>
          <a:p>
            <a:pPr indent="0" marL="0">
              <a:buNone/>
            </a:pPr>
            <a:r>
              <a:rPr lang="en-US" sz="1400" dirty="0">
                <a:solidFill>
                  <a:schemeClr val="tx1"/>
                </a:solidFill>
              </a:rPr>
              <a:t>Letter to open in one year</a:t>
            </a:r>
            <a:endParaRPr lang="en-US" sz="1800" dirty="0"/>
          </a:p>
        </p:txBody>
      </p:sp>
      <p:sp>
        <p:nvSpPr>
          <p:cNvPr id="7" name="Sam card"/>
          <p:cNvSpPr/>
          <p:nvPr/>
        </p:nvSpPr>
        <p:spPr>
          <a:xfrm>
            <a:off x="6217920" y="1325880"/>
            <a:ext cx="2560320" cy="1508760"/>
          </a:xfrm>
          <a:prstGeom prst="roundRect">
            <a:avLst>
              <a:gd name="adj" fmla="val 10909"/>
            </a:avLst>
          </a:prstGeom>
          <a:solidFill>
            <a:schemeClr val="accent2"/>
          </a:solidFill>
          <a:ln w="22225">
            <a:solidFill>
              <a:schemeClr val="tx1"/>
            </a:solidFill>
            <a:prstDash val="solid"/>
          </a:ln>
          <a:effectLst>
            <a:outerShdw sx="100000" sy="100000" kx="0" ky="0" algn="bl" rotWithShape="0" blurRad="101600" dist="38100" dir="2700000">
              <a:srgbClr val="3E2F5B">
                <a:alpha val="100000"/>
              </a:srgbClr>
            </a:outerShdw>
          </a:effectLst>
        </p:spPr>
      </p:sp>
      <p:sp>
        <p:nvSpPr>
          <p:cNvPr id="8" name="Sam text"/>
          <p:cNvSpPr txBox="1"/>
          <p:nvPr/>
        </p:nvSpPr>
        <p:spPr>
          <a:xfrm>
            <a:off x="6400800" y="1463040"/>
            <a:ext cx="2194560" cy="1234440"/>
          </a:xfrm>
          <a:prstGeom prst="rect">
            <a:avLst/>
          </a:prstGeom>
          <a:noFill/>
          <a:ln/>
        </p:spPr>
        <p:txBody>
          <a:bodyPr wrap="square" lIns="0" tIns="0" rIns="0" bIns="0" rtlCol="0" anchor="t"/>
          <a:lstStyle/>
          <a:p>
            <a:pPr indent="0" marL="0">
              <a:buNone/>
            </a:pPr>
            <a:r>
              <a:rPr lang="en-US" sz="1800" b="1" dirty="0">
                <a:solidFill>
                  <a:schemeClr val="tx1"/>
                </a:solidFill>
              </a:rPr>
              <a:t>Sam</a:t>
            </a:r>
            <a:endParaRPr lang="en-US" sz="1800" dirty="0"/>
          </a:p>
          <a:p>
            <a:pPr indent="0" marL="0">
              <a:buNone/>
            </a:pPr>
            <a:r>
              <a:rPr lang="en-US" sz="1400" b="1" dirty="0">
                <a:solidFill>
                  <a:schemeClr val="tx1"/>
                </a:solidFill>
              </a:rPr>
              <a:t>Nostalgic browser</a:t>
            </a:r>
            <a:endParaRPr lang="en-US" sz="1800" dirty="0"/>
          </a:p>
          <a:p>
            <a:pPr indent="0" marL="0">
              <a:buNone/>
            </a:pPr>
            <a:r>
              <a:rPr lang="en-US" sz="1400" dirty="0">
                <a:solidFill>
                  <a:schemeClr val="tx1"/>
                </a:solidFill>
              </a:rPr>
              <a:t>Filters memories by city and year</a:t>
            </a:r>
            <a:endParaRPr lang="en-US" sz="1800" dirty="0"/>
          </a:p>
        </p:txBody>
      </p:sp>
      <p:sp>
        <p:nvSpPr>
          <p:cNvPr id="9" name="Maya card"/>
          <p:cNvSpPr/>
          <p:nvPr/>
        </p:nvSpPr>
        <p:spPr>
          <a:xfrm>
            <a:off x="548640" y="3108960"/>
            <a:ext cx="2560320" cy="1508760"/>
          </a:xfrm>
          <a:prstGeom prst="roundRect">
            <a:avLst>
              <a:gd name="adj" fmla="val 10909"/>
            </a:avLst>
          </a:prstGeom>
          <a:solidFill>
            <a:schemeClr val="accent2"/>
          </a:solidFill>
          <a:ln w="22225">
            <a:solidFill>
              <a:schemeClr val="tx1"/>
            </a:solidFill>
            <a:prstDash val="solid"/>
          </a:ln>
          <a:effectLst>
            <a:outerShdw sx="100000" sy="100000" kx="0" ky="0" algn="bl" rotWithShape="0" blurRad="101600" dist="38100" dir="2700000">
              <a:srgbClr val="3E2F5B">
                <a:alpha val="100000"/>
              </a:srgbClr>
            </a:outerShdw>
          </a:effectLst>
        </p:spPr>
      </p:sp>
      <p:sp>
        <p:nvSpPr>
          <p:cNvPr id="10" name="Maya text"/>
          <p:cNvSpPr txBox="1"/>
          <p:nvPr/>
        </p:nvSpPr>
        <p:spPr>
          <a:xfrm>
            <a:off x="731520" y="3246120"/>
            <a:ext cx="2194560" cy="1234440"/>
          </a:xfrm>
          <a:prstGeom prst="rect">
            <a:avLst/>
          </a:prstGeom>
          <a:noFill/>
          <a:ln/>
        </p:spPr>
        <p:txBody>
          <a:bodyPr wrap="square" lIns="0" tIns="0" rIns="0" bIns="0" rtlCol="0" anchor="t"/>
          <a:lstStyle/>
          <a:p>
            <a:pPr indent="0" marL="0">
              <a:buNone/>
            </a:pPr>
            <a:r>
              <a:rPr lang="en-US" sz="1800" b="1" dirty="0">
                <a:solidFill>
                  <a:schemeClr val="tx1"/>
                </a:solidFill>
              </a:rPr>
              <a:t>Maya</a:t>
            </a:r>
            <a:endParaRPr lang="en-US" sz="1800" dirty="0"/>
          </a:p>
          <a:p>
            <a:pPr indent="0" marL="0">
              <a:buNone/>
            </a:pPr>
            <a:r>
              <a:rPr lang="en-US" sz="1400" b="1" dirty="0">
                <a:solidFill>
                  <a:schemeClr val="tx1"/>
                </a:solidFill>
              </a:rPr>
              <a:t>Storyteller</a:t>
            </a:r>
            <a:endParaRPr lang="en-US" sz="1800" dirty="0"/>
          </a:p>
          <a:p>
            <a:pPr indent="0" marL="0">
              <a:buNone/>
            </a:pPr>
            <a:r>
              <a:rPr lang="en-US" sz="1400" dirty="0">
                <a:solidFill>
                  <a:schemeClr val="tx1"/>
                </a:solidFill>
              </a:rPr>
              <a:t>Shares small moments anonymously</a:t>
            </a:r>
            <a:endParaRPr lang="en-US" sz="1800" dirty="0"/>
          </a:p>
        </p:txBody>
      </p:sp>
      <p:sp>
        <p:nvSpPr>
          <p:cNvPr id="11" name="Leo card"/>
          <p:cNvSpPr/>
          <p:nvPr/>
        </p:nvSpPr>
        <p:spPr>
          <a:xfrm>
            <a:off x="3383280" y="3108960"/>
            <a:ext cx="2560320" cy="1508760"/>
          </a:xfrm>
          <a:prstGeom prst="roundRect">
            <a:avLst>
              <a:gd name="adj" fmla="val 10909"/>
            </a:avLst>
          </a:prstGeom>
          <a:solidFill>
            <a:schemeClr val="accent2"/>
          </a:solidFill>
          <a:ln w="22225">
            <a:solidFill>
              <a:schemeClr val="tx1"/>
            </a:solidFill>
            <a:prstDash val="solid"/>
          </a:ln>
          <a:effectLst>
            <a:outerShdw sx="100000" sy="100000" kx="0" ky="0" algn="bl" rotWithShape="0" blurRad="101600" dist="38100" dir="2700000">
              <a:srgbClr val="3E2F5B">
                <a:alpha val="100000"/>
              </a:srgbClr>
            </a:outerShdw>
          </a:effectLst>
        </p:spPr>
      </p:sp>
      <p:sp>
        <p:nvSpPr>
          <p:cNvPr id="12" name="Leo text"/>
          <p:cNvSpPr txBox="1"/>
          <p:nvPr/>
        </p:nvSpPr>
        <p:spPr>
          <a:xfrm>
            <a:off x="3566160" y="3246120"/>
            <a:ext cx="2194560" cy="1234440"/>
          </a:xfrm>
          <a:prstGeom prst="rect">
            <a:avLst/>
          </a:prstGeom>
          <a:noFill/>
          <a:ln/>
        </p:spPr>
        <p:txBody>
          <a:bodyPr wrap="square" lIns="0" tIns="0" rIns="0" bIns="0" rtlCol="0" anchor="t"/>
          <a:lstStyle/>
          <a:p>
            <a:pPr indent="0" marL="0">
              <a:buNone/>
            </a:pPr>
            <a:r>
              <a:rPr lang="en-US" sz="1800" b="1" dirty="0">
                <a:solidFill>
                  <a:schemeClr val="tx1"/>
                </a:solidFill>
              </a:rPr>
              <a:t>Leo</a:t>
            </a:r>
            <a:endParaRPr lang="en-US" sz="1800" dirty="0"/>
          </a:p>
          <a:p>
            <a:pPr indent="0" marL="0">
              <a:buNone/>
            </a:pPr>
            <a:r>
              <a:rPr lang="en-US" sz="1400" b="1" dirty="0">
                <a:solidFill>
                  <a:schemeClr val="tx1"/>
                </a:solidFill>
              </a:rPr>
              <a:t>Reactor</a:t>
            </a:r>
            <a:endParaRPr lang="en-US" sz="1800" dirty="0"/>
          </a:p>
          <a:p>
            <a:pPr indent="0" marL="0">
              <a:buNone/>
            </a:pPr>
            <a:r>
              <a:rPr lang="en-US" sz="1400" dirty="0">
                <a:solidFill>
                  <a:schemeClr val="tx1"/>
                </a:solidFill>
              </a:rPr>
              <a:t>Reacts to what resonates</a:t>
            </a:r>
            <a:endParaRPr lang="en-US" sz="1800" dirty="0"/>
          </a:p>
        </p:txBody>
      </p:sp>
      <p:sp>
        <p:nvSpPr>
          <p:cNvPr id="13" name="Legend card"/>
          <p:cNvSpPr/>
          <p:nvPr/>
        </p:nvSpPr>
        <p:spPr>
          <a:xfrm>
            <a:off x="6217920" y="3108960"/>
            <a:ext cx="2560320" cy="1508760"/>
          </a:xfrm>
          <a:prstGeom prst="roundRect">
            <a:avLst>
              <a:gd name="adj" fmla="val 10909"/>
            </a:avLst>
          </a:prstGeom>
          <a:solidFill>
            <a:schemeClr val="bg1"/>
          </a:solidFill>
          <a:ln w="22225">
            <a:solidFill>
              <a:schemeClr val="tx1"/>
            </a:solidFill>
            <a:prstDash val="dash"/>
          </a:ln>
        </p:spPr>
      </p:sp>
      <p:sp>
        <p:nvSpPr>
          <p:cNvPr id="14" name="Legend dot letters"/>
          <p:cNvSpPr/>
          <p:nvPr/>
        </p:nvSpPr>
        <p:spPr>
          <a:xfrm>
            <a:off x="6446520" y="3383280"/>
            <a:ext cx="228600" cy="228600"/>
          </a:xfrm>
          <a:prstGeom prst="ellipse">
            <a:avLst/>
          </a:prstGeom>
          <a:solidFill>
            <a:schemeClr val="accent3"/>
          </a:solidFill>
          <a:ln w="12700">
            <a:solidFill>
              <a:schemeClr val="tx1"/>
            </a:solidFill>
            <a:prstDash val="solid"/>
          </a:ln>
        </p:spPr>
      </p:sp>
      <p:sp>
        <p:nvSpPr>
          <p:cNvPr id="15" name="Legend letters"/>
          <p:cNvSpPr txBox="1"/>
          <p:nvPr/>
        </p:nvSpPr>
        <p:spPr>
          <a:xfrm>
            <a:off x="6812280" y="3310128"/>
            <a:ext cx="1828800" cy="365760"/>
          </a:xfrm>
          <a:prstGeom prst="rect">
            <a:avLst/>
          </a:prstGeom>
          <a:noFill/>
          <a:ln/>
        </p:spPr>
        <p:txBody>
          <a:bodyPr wrap="square" lIns="0" tIns="0" rIns="0" bIns="0" rtlCol="0" anchor="ctr"/>
          <a:lstStyle/>
          <a:p>
            <a:pPr indent="0" marL="0">
              <a:buNone/>
            </a:pPr>
            <a:r>
              <a:rPr lang="en-US" sz="1400" dirty="0">
                <a:solidFill>
                  <a:schemeClr val="tx1"/>
                </a:solidFill>
              </a:rPr>
              <a:t>Letters to Future Me</a:t>
            </a:r>
            <a:endParaRPr lang="en-US" sz="1400" dirty="0"/>
          </a:p>
        </p:txBody>
      </p:sp>
      <p:sp>
        <p:nvSpPr>
          <p:cNvPr id="16" name="Legend dot wall"/>
          <p:cNvSpPr/>
          <p:nvPr/>
        </p:nvSpPr>
        <p:spPr>
          <a:xfrm>
            <a:off x="6446520" y="3977640"/>
            <a:ext cx="228600" cy="228600"/>
          </a:xfrm>
          <a:prstGeom prst="ellipse">
            <a:avLst/>
          </a:prstGeom>
          <a:solidFill>
            <a:schemeClr val="accent2"/>
          </a:solidFill>
          <a:ln w="12700">
            <a:solidFill>
              <a:schemeClr val="tx1"/>
            </a:solidFill>
            <a:prstDash val="solid"/>
          </a:ln>
        </p:spPr>
      </p:sp>
      <p:sp>
        <p:nvSpPr>
          <p:cNvPr id="17" name="Legend wall"/>
          <p:cNvSpPr txBox="1"/>
          <p:nvPr/>
        </p:nvSpPr>
        <p:spPr>
          <a:xfrm>
            <a:off x="6812280" y="3904488"/>
            <a:ext cx="1828800" cy="365760"/>
          </a:xfrm>
          <a:prstGeom prst="rect">
            <a:avLst/>
          </a:prstGeom>
          <a:noFill/>
          <a:ln/>
        </p:spPr>
        <p:txBody>
          <a:bodyPr wrap="square" lIns="0" tIns="0" rIns="0" bIns="0" rtlCol="0" anchor="ctr"/>
          <a:lstStyle/>
          <a:p>
            <a:pPr indent="0" marL="0">
              <a:buNone/>
            </a:pPr>
            <a:r>
              <a:rPr lang="en-US" sz="1400" dirty="0">
                <a:solidFill>
                  <a:schemeClr val="tx1"/>
                </a:solidFill>
              </a:rPr>
              <a:t>Memory Wall</a:t>
            </a:r>
            <a:endParaRPr lang="en-US" sz="14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latin typeface="Calibri" pitchFamily="34" charset="0"/>
                <a:ea typeface="Calibri" pitchFamily="34" charset="-122"/>
                <a:cs typeface="Calibri" pitchFamily="34" charset="-120"/>
              </a:rPr>
              <a:t>Letters to Future Me</a:t>
            </a:r>
            <a:endParaRPr lang="en-US" sz="3400" dirty="0"/>
          </a:p>
        </p:txBody>
      </p:sp>
      <p:sp>
        <p:nvSpPr>
          <p:cNvPr id="3" name="Letters features"/>
          <p:cNvSpPr txBox="1"/>
          <p:nvPr/>
        </p:nvSpPr>
        <p:spPr>
          <a:xfrm>
            <a:off x="548640" y="1371600"/>
            <a:ext cx="3566160" cy="310896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chemeClr val="tx1"/>
                </a:solidFill>
              </a:rPr>
              <a:t>Title, message and unlock date</a:t>
            </a:r>
            <a:endParaRPr lang="en-US" sz="1600" dirty="0"/>
          </a:p>
          <a:p>
            <a:pPr marL="203200" indent="-203200">
              <a:spcAft>
                <a:spcPts val="800"/>
              </a:spcAft>
              <a:buSzPct val="100000"/>
              <a:buChar char="•"/>
            </a:pPr>
            <a:r>
              <a:rPr lang="en-US" sz="1600" dirty="0">
                <a:solidFill>
                  <a:schemeClr val="tx1"/>
                </a:solidFill>
              </a:rPr>
              <a:t>Live countdown, then an Open button</a:t>
            </a:r>
            <a:endParaRPr lang="en-US" sz="1600" dirty="0"/>
          </a:p>
          <a:p>
            <a:pPr marL="203200" indent="-203200">
              <a:spcAft>
                <a:spcPts val="800"/>
              </a:spcAft>
              <a:buSzPct val="100000"/>
              <a:buChar char="•"/>
            </a:pPr>
            <a:r>
              <a:rPr lang="en-US" sz="1600" dirty="0">
                <a:solidFill>
                  <a:schemeClr val="tx1"/>
                </a:solidFill>
              </a:rPr>
              <a:t>Edit title, push date later, or delete</a:t>
            </a:r>
            <a:endParaRPr lang="en-US" sz="1600" dirty="0"/>
          </a:p>
          <a:p>
            <a:pPr marL="203200" indent="-203200">
              <a:spcAft>
                <a:spcPts val="800"/>
              </a:spcAft>
              <a:buSzPct val="100000"/>
              <a:buChar char="•"/>
            </a:pPr>
            <a:r>
              <a:rPr lang="en-US" sz="1600" dirty="0">
                <a:solidFill>
                  <a:schemeClr val="tx1"/>
                </a:solidFill>
              </a:rPr>
              <a:t>Search, filter and sort your letters</a:t>
            </a:r>
            <a:endParaRPr lang="en-US" sz="1600" dirty="0"/>
          </a:p>
          <a:p>
            <a:pPr marL="203200" indent="-203200">
              <a:spcAft>
                <a:spcPts val="800"/>
              </a:spcAft>
              <a:buSzPct val="100000"/>
              <a:buChar char="•"/>
            </a:pPr>
            <a:r>
              <a:rPr lang="en-US" sz="1600" dirty="0">
                <a:solidFill>
                  <a:schemeClr val="tx1"/>
                </a:solidFill>
              </a:rPr>
              <a:t>Stats: locked vs. opened</a:t>
            </a:r>
            <a:endParaRPr lang="en-US" sz="1600" dirty="0"/>
          </a:p>
        </p:txBody>
      </p:sp>
      <p:sp>
        <p:nvSpPr>
          <p:cNvPr id="4" name="Letters screenshot frame"/>
          <p:cNvSpPr/>
          <p:nvPr/>
        </p:nvSpPr>
        <p:spPr>
          <a:xfrm>
            <a:off x="4334256" y="1316736"/>
            <a:ext cx="4315968" cy="2607869"/>
          </a:xfrm>
          <a:prstGeom prst="roundRect">
            <a:avLst>
              <a:gd name="adj" fmla="val 4208"/>
            </a:avLst>
          </a:prstGeom>
          <a:solidFill>
            <a:schemeClr val="bg1"/>
          </a:solidFill>
          <a:ln w="22225">
            <a:solidFill>
              <a:schemeClr val="tx1"/>
            </a:solidFill>
            <a:prstDash val="solid"/>
          </a:ln>
          <a:effectLst>
            <a:outerShdw sx="100000" sy="100000" kx="0" ky="0" algn="bl" rotWithShape="0" blurRad="101600" dist="38100" dir="2700000">
              <a:srgbClr val="3E2F5B">
                <a:alpha val="100000"/>
              </a:srgbClr>
            </a:outerShdw>
          </a:effectLst>
        </p:spPr>
      </p:sp>
      <p:pic>
        <p:nvPicPr>
          <p:cNvPr id="5" name="Letters screenshot" descr="Letters to Future Me page with write form and list">    </p:cNvPr>
          <p:cNvPicPr>
            <a:picLocks noChangeAspect="1"/>
          </p:cNvPicPr>
          <p:nvPr/>
        </p:nvPicPr>
        <p:blipFill>
          <a:blip r:embed="rId1"/>
          <a:stretch>
            <a:fillRect/>
          </a:stretch>
        </p:blipFill>
        <p:spPr>
          <a:xfrm>
            <a:off x="4389120" y="1371600"/>
            <a:ext cx="4206240" cy="2498141"/>
          </a:xfrm>
          <a:prstGeom prst="rect">
            <a:avLst/>
          </a:prstGeom>
        </p:spPr>
      </p:pic>
      <p:sp>
        <p:nvSpPr>
          <p:cNvPr id="6" name="Owner pill letters"/>
          <p:cNvSpPr/>
          <p:nvPr/>
        </p:nvSpPr>
        <p:spPr>
          <a:xfrm>
            <a:off x="4389120" y="4114800"/>
            <a:ext cx="2011680" cy="411480"/>
          </a:xfrm>
          <a:prstGeom prst="roundRect">
            <a:avLst>
              <a:gd name="adj" fmla="val 50000"/>
            </a:avLst>
          </a:prstGeom>
          <a:solidFill>
            <a:schemeClr val="accent3"/>
          </a:solidFill>
          <a:ln w="19050">
            <a:solidFill>
              <a:schemeClr val="tx1"/>
            </a:solidFill>
            <a:prstDash val="solid"/>
          </a:ln>
          <a:effectLst>
            <a:outerShdw sx="100000" sy="100000" kx="0" ky="0" algn="bl" rotWithShape="0" blurRad="101600" dist="38100" dir="2700000">
              <a:srgbClr val="3E2F5B">
                <a:alpha val="100000"/>
              </a:srgbClr>
            </a:outerShdw>
          </a:effectLst>
        </p:spPr>
      </p:sp>
      <p:sp>
        <p:nvSpPr>
          <p:cNvPr id="7" name="Owner pill letters text"/>
          <p:cNvSpPr txBox="1"/>
          <p:nvPr/>
        </p:nvSpPr>
        <p:spPr>
          <a:xfrm>
            <a:off x="4389120" y="4114800"/>
            <a:ext cx="2011680" cy="411480"/>
          </a:xfrm>
          <a:prstGeom prst="rect">
            <a:avLst/>
          </a:prstGeom>
          <a:noFill/>
          <a:ln/>
        </p:spPr>
        <p:txBody>
          <a:bodyPr wrap="square" lIns="0" tIns="0" rIns="0" bIns="0" rtlCol="0" anchor="ctr"/>
          <a:lstStyle/>
          <a:p>
            <a:pPr algn="ctr" indent="0" marL="0">
              <a:buNone/>
            </a:pPr>
            <a:r>
              <a:rPr lang="en-US" sz="1400" b="1" dirty="0">
                <a:solidFill>
                  <a:schemeClr val="tx1"/>
                </a:solidFill>
              </a:rPr>
              <a:t>Built by Trupal</a:t>
            </a:r>
            <a:endParaRPr lang="en-US" sz="14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latin typeface="Calibri" pitchFamily="34" charset="0"/>
                <a:ea typeface="Calibri" pitchFamily="34" charset="-122"/>
                <a:cs typeface="Calibri" pitchFamily="34" charset="-120"/>
              </a:rPr>
              <a:t>Memory Wall</a:t>
            </a:r>
            <a:endParaRPr lang="en-US" sz="3400" dirty="0"/>
          </a:p>
        </p:txBody>
      </p:sp>
      <p:sp>
        <p:nvSpPr>
          <p:cNvPr id="3" name="Wall features"/>
          <p:cNvSpPr txBox="1"/>
          <p:nvPr/>
        </p:nvSpPr>
        <p:spPr>
          <a:xfrm>
            <a:off x="548640" y="1371600"/>
            <a:ext cx="3566160" cy="237744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chemeClr val="tx1"/>
                </a:solidFill>
              </a:rPr>
              <a:t>Anonymous memory with place, year, season</a:t>
            </a:r>
            <a:endParaRPr lang="en-US" sz="1600" dirty="0"/>
          </a:p>
          <a:p>
            <a:pPr marL="203200" indent="-203200">
              <a:spcAft>
                <a:spcPts val="800"/>
              </a:spcAft>
              <a:buSzPct val="100000"/>
              <a:buChar char="•"/>
            </a:pPr>
            <a:r>
              <a:rPr lang="en-US" sz="1600" dirty="0">
                <a:solidFill>
                  <a:schemeClr val="tx1"/>
                </a:solidFill>
              </a:rPr>
              <a:t>Pick a mood and card color</a:t>
            </a:r>
            <a:endParaRPr lang="en-US" sz="1600" dirty="0"/>
          </a:p>
          <a:p>
            <a:pPr marL="203200" indent="-203200">
              <a:spcAft>
                <a:spcPts val="800"/>
              </a:spcAft>
              <a:buSzPct val="100000"/>
              <a:buChar char="•"/>
            </a:pPr>
            <a:r>
              <a:rPr lang="en-US" sz="1600" dirty="0">
                <a:solidFill>
                  <a:schemeClr val="tx1"/>
                </a:solidFill>
              </a:rPr>
              <a:t>Filter by place, year, season</a:t>
            </a:r>
            <a:endParaRPr lang="en-US" sz="1600" dirty="0"/>
          </a:p>
          <a:p>
            <a:pPr marL="203200" indent="-203200">
              <a:spcAft>
                <a:spcPts val="800"/>
              </a:spcAft>
              <a:buSzPct val="100000"/>
              <a:buChar char="•"/>
            </a:pPr>
            <a:r>
              <a:rPr lang="en-US" sz="1600" dirty="0">
                <a:solidFill>
                  <a:schemeClr val="tx1"/>
                </a:solidFill>
              </a:rPr>
              <a:t>Edit or delete only your own</a:t>
            </a:r>
            <a:endParaRPr lang="en-US" sz="1600" dirty="0"/>
          </a:p>
        </p:txBody>
      </p:sp>
      <p:sp>
        <p:nvSpPr>
          <p:cNvPr id="4" name="Wall screenshot frame"/>
          <p:cNvSpPr/>
          <p:nvPr/>
        </p:nvSpPr>
        <p:spPr>
          <a:xfrm>
            <a:off x="4334256" y="1316736"/>
            <a:ext cx="4315968" cy="2070202"/>
          </a:xfrm>
          <a:prstGeom prst="roundRect">
            <a:avLst>
              <a:gd name="adj" fmla="val 5300"/>
            </a:avLst>
          </a:prstGeom>
          <a:solidFill>
            <a:schemeClr val="bg1"/>
          </a:solidFill>
          <a:ln w="22225">
            <a:solidFill>
              <a:schemeClr val="tx1"/>
            </a:solidFill>
            <a:prstDash val="solid"/>
          </a:ln>
          <a:effectLst>
            <a:outerShdw sx="100000" sy="100000" kx="0" ky="0" algn="bl" rotWithShape="0" blurRad="101600" dist="38100" dir="2700000">
              <a:srgbClr val="3E2F5B">
                <a:alpha val="100000"/>
              </a:srgbClr>
            </a:outerShdw>
          </a:effectLst>
        </p:spPr>
      </p:sp>
      <p:pic>
        <p:nvPicPr>
          <p:cNvPr id="5" name="Wall screenshot" descr="Memory Wall page with how to use box and form">    </p:cNvPr>
          <p:cNvPicPr>
            <a:picLocks noChangeAspect="1"/>
          </p:cNvPicPr>
          <p:nvPr/>
        </p:nvPicPr>
        <p:blipFill>
          <a:blip r:embed="rId1"/>
          <a:stretch>
            <a:fillRect/>
          </a:stretch>
        </p:blipFill>
        <p:spPr>
          <a:xfrm>
            <a:off x="4389120" y="1371600"/>
            <a:ext cx="4206240" cy="1960474"/>
          </a:xfrm>
          <a:prstGeom prst="rect">
            <a:avLst/>
          </a:prstGeom>
        </p:spPr>
      </p:pic>
      <p:sp>
        <p:nvSpPr>
          <p:cNvPr id="6" name="Reaction heart circle"/>
          <p:cNvSpPr/>
          <p:nvPr/>
        </p:nvSpPr>
        <p:spPr>
          <a:xfrm>
            <a:off x="4389120" y="3703320"/>
            <a:ext cx="548640" cy="548640"/>
          </a:xfrm>
          <a:prstGeom prst="ellipse">
            <a:avLst/>
          </a:prstGeom>
          <a:solidFill>
            <a:schemeClr val="accent1"/>
          </a:solidFill>
          <a:ln w="19050">
            <a:solidFill>
              <a:schemeClr val="tx1"/>
            </a:solidFill>
            <a:prstDash val="solid"/>
          </a:ln>
          <a:effectLst>
            <a:outerShdw sx="100000" sy="100000" kx="0" ky="0" algn="bl" rotWithShape="0" blurRad="101600" dist="38100" dir="2700000">
              <a:srgbClr val="3E2F5B">
                <a:alpha val="100000"/>
              </a:srgbClr>
            </a:outerShdw>
          </a:effectLst>
        </p:spPr>
      </p:sp>
      <p:pic>
        <p:nvPicPr>
          <p:cNvPr id="7" name="Reaction heart" descr="Reaction heart">    </p:cNvPr>
          <p:cNvPicPr>
            <a:picLocks noChangeAspect="1"/>
          </p:cNvPicPr>
          <p:nvPr/>
        </p:nvPicPr>
        <p:blipFill>
          <a:blip r:embed="rId2"/>
          <a:stretch>
            <a:fillRect/>
          </a:stretch>
        </p:blipFill>
        <p:spPr>
          <a:xfrm>
            <a:off x="4526280" y="3840480"/>
            <a:ext cx="274320" cy="274320"/>
          </a:xfrm>
          <a:prstGeom prst="rect">
            <a:avLst/>
          </a:prstGeom>
        </p:spPr>
      </p:pic>
      <p:sp>
        <p:nvSpPr>
          <p:cNvPr id="8" name="Reaction joy circle"/>
          <p:cNvSpPr/>
          <p:nvPr/>
        </p:nvSpPr>
        <p:spPr>
          <a:xfrm>
            <a:off x="5120640" y="3703320"/>
            <a:ext cx="548640" cy="548640"/>
          </a:xfrm>
          <a:prstGeom prst="ellipse">
            <a:avLst/>
          </a:prstGeom>
          <a:solidFill>
            <a:schemeClr val="accent4"/>
          </a:solidFill>
          <a:ln w="19050">
            <a:solidFill>
              <a:schemeClr val="tx1"/>
            </a:solidFill>
            <a:prstDash val="solid"/>
          </a:ln>
          <a:effectLst>
            <a:outerShdw sx="100000" sy="100000" kx="0" ky="0" algn="bl" rotWithShape="0" blurRad="101600" dist="38100" dir="2700000">
              <a:srgbClr val="3E2F5B">
                <a:alpha val="100000"/>
              </a:srgbClr>
            </a:outerShdw>
          </a:effectLst>
        </p:spPr>
      </p:sp>
      <p:pic>
        <p:nvPicPr>
          <p:cNvPr id="9" name="Reaction joy" descr="Reaction joy">    </p:cNvPr>
          <p:cNvPicPr>
            <a:picLocks noChangeAspect="1"/>
          </p:cNvPicPr>
          <p:nvPr/>
        </p:nvPicPr>
        <p:blipFill>
          <a:blip r:embed="rId3"/>
          <a:stretch>
            <a:fillRect/>
          </a:stretch>
        </p:blipFill>
        <p:spPr>
          <a:xfrm>
            <a:off x="5257800" y="3840480"/>
            <a:ext cx="274320" cy="274320"/>
          </a:xfrm>
          <a:prstGeom prst="rect">
            <a:avLst/>
          </a:prstGeom>
        </p:spPr>
      </p:pic>
      <p:sp>
        <p:nvSpPr>
          <p:cNvPr id="10" name="Reaction cry circle"/>
          <p:cNvSpPr/>
          <p:nvPr/>
        </p:nvSpPr>
        <p:spPr>
          <a:xfrm>
            <a:off x="5852160" y="3703320"/>
            <a:ext cx="548640" cy="548640"/>
          </a:xfrm>
          <a:prstGeom prst="ellipse">
            <a:avLst/>
          </a:prstGeom>
          <a:solidFill>
            <a:schemeClr val="accent5"/>
          </a:solidFill>
          <a:ln w="19050">
            <a:solidFill>
              <a:schemeClr val="tx1"/>
            </a:solidFill>
            <a:prstDash val="solid"/>
          </a:ln>
          <a:effectLst>
            <a:outerShdw sx="100000" sy="100000" kx="0" ky="0" algn="bl" rotWithShape="0" blurRad="101600" dist="38100" dir="2700000">
              <a:srgbClr val="3E2F5B">
                <a:alpha val="100000"/>
              </a:srgbClr>
            </a:outerShdw>
          </a:effectLst>
        </p:spPr>
      </p:sp>
      <p:pic>
        <p:nvPicPr>
          <p:cNvPr id="11" name="Reaction cry" descr="Reaction cry">    </p:cNvPr>
          <p:cNvPicPr>
            <a:picLocks noChangeAspect="1"/>
          </p:cNvPicPr>
          <p:nvPr/>
        </p:nvPicPr>
        <p:blipFill>
          <a:blip r:embed="rId4"/>
          <a:stretch>
            <a:fillRect/>
          </a:stretch>
        </p:blipFill>
        <p:spPr>
          <a:xfrm>
            <a:off x="5989320" y="3840480"/>
            <a:ext cx="274320" cy="274320"/>
          </a:xfrm>
          <a:prstGeom prst="rect">
            <a:avLst/>
          </a:prstGeom>
        </p:spPr>
      </p:pic>
      <p:sp>
        <p:nvSpPr>
          <p:cNvPr id="12" name="Reaction note"/>
          <p:cNvSpPr txBox="1"/>
          <p:nvPr/>
        </p:nvSpPr>
        <p:spPr>
          <a:xfrm>
            <a:off x="548640" y="3886200"/>
            <a:ext cx="3566160" cy="548640"/>
          </a:xfrm>
          <a:prstGeom prst="rect">
            <a:avLst/>
          </a:prstGeom>
          <a:noFill/>
          <a:ln/>
        </p:spPr>
        <p:txBody>
          <a:bodyPr wrap="square" lIns="0" tIns="0" rIns="0" bIns="0" rtlCol="0" anchor="t"/>
          <a:lstStyle/>
          <a:p>
            <a:pPr indent="0" marL="0">
              <a:buNone/>
            </a:pPr>
            <a:r>
              <a:rPr lang="en-US" sz="1400" dirty="0">
                <a:solidFill>
                  <a:schemeClr val="tx2"/>
                </a:solidFill>
              </a:rPr>
              <a:t>One reaction each. Sort by most reacted.</a:t>
            </a:r>
            <a:endParaRPr lang="en-US" sz="1400" dirty="0"/>
          </a:p>
        </p:txBody>
      </p:sp>
      <p:sp>
        <p:nvSpPr>
          <p:cNvPr id="13" name="Owner pill wall"/>
          <p:cNvSpPr/>
          <p:nvPr/>
        </p:nvSpPr>
        <p:spPr>
          <a:xfrm>
            <a:off x="6583680" y="3767328"/>
            <a:ext cx="2011680" cy="411480"/>
          </a:xfrm>
          <a:prstGeom prst="roundRect">
            <a:avLst>
              <a:gd name="adj" fmla="val 50000"/>
            </a:avLst>
          </a:prstGeom>
          <a:solidFill>
            <a:schemeClr val="accent2"/>
          </a:solidFill>
          <a:ln w="19050">
            <a:solidFill>
              <a:schemeClr val="tx1"/>
            </a:solidFill>
            <a:prstDash val="solid"/>
          </a:ln>
          <a:effectLst>
            <a:outerShdw sx="100000" sy="100000" kx="0" ky="0" algn="bl" rotWithShape="0" blurRad="101600" dist="38100" dir="2700000">
              <a:srgbClr val="3E2F5B">
                <a:alpha val="100000"/>
              </a:srgbClr>
            </a:outerShdw>
          </a:effectLst>
        </p:spPr>
      </p:sp>
      <p:sp>
        <p:nvSpPr>
          <p:cNvPr id="14" name="Owner pill wall text"/>
          <p:cNvSpPr txBox="1"/>
          <p:nvPr/>
        </p:nvSpPr>
        <p:spPr>
          <a:xfrm>
            <a:off x="6583680" y="3767328"/>
            <a:ext cx="2011680" cy="411480"/>
          </a:xfrm>
          <a:prstGeom prst="rect">
            <a:avLst/>
          </a:prstGeom>
          <a:noFill/>
          <a:ln/>
        </p:spPr>
        <p:txBody>
          <a:bodyPr wrap="square" lIns="0" tIns="0" rIns="0" bIns="0" rtlCol="0" anchor="ctr"/>
          <a:lstStyle/>
          <a:p>
            <a:pPr algn="ctr" indent="0" marL="0">
              <a:buNone/>
            </a:pPr>
            <a:r>
              <a:rPr lang="en-US" sz="1400" b="1" dirty="0">
                <a:solidFill>
                  <a:schemeClr val="tx1"/>
                </a:solidFill>
              </a:rPr>
              <a:t>Built by Heta</a:t>
            </a:r>
            <a:endParaRPr lang="en-US" sz="14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latin typeface="Calibri" pitchFamily="34" charset="0"/>
                <a:ea typeface="Calibri" pitchFamily="34" charset="-122"/>
                <a:cs typeface="Calibri" pitchFamily="34" charset="-120"/>
              </a:rPr>
              <a:t>How it works</a:t>
            </a:r>
            <a:endParaRPr lang="en-US" sz="3400" dirty="0"/>
          </a:p>
        </p:txBody>
      </p:sp>
      <p:sp>
        <p:nvSpPr>
          <p:cNvPr id="3" name="Browser card"/>
          <p:cNvSpPr/>
          <p:nvPr/>
        </p:nvSpPr>
        <p:spPr>
          <a:xfrm>
            <a:off x="548640" y="1417320"/>
            <a:ext cx="2286000" cy="1920240"/>
          </a:xfrm>
          <a:prstGeom prst="roundRect">
            <a:avLst>
              <a:gd name="adj" fmla="val 8571"/>
            </a:avLst>
          </a:prstGeom>
          <a:solidFill>
            <a:schemeClr val="accent5"/>
          </a:solidFill>
          <a:ln w="22225">
            <a:solidFill>
              <a:schemeClr val="tx1"/>
            </a:solidFill>
            <a:prstDash val="solid"/>
          </a:ln>
          <a:effectLst>
            <a:outerShdw sx="100000" sy="100000" kx="0" ky="0" algn="bl" rotWithShape="0" blurRad="101600" dist="38100" dir="2700000">
              <a:srgbClr val="3E2F5B">
                <a:alpha val="100000"/>
              </a:srgbClr>
            </a:outerShdw>
          </a:effectLst>
        </p:spPr>
      </p:sp>
      <p:sp>
        <p:nvSpPr>
          <p:cNvPr id="4" name="Browser icon circle"/>
          <p:cNvSpPr/>
          <p:nvPr/>
        </p:nvSpPr>
        <p:spPr>
          <a:xfrm>
            <a:off x="1371600" y="1600200"/>
            <a:ext cx="640080" cy="640080"/>
          </a:xfrm>
          <a:prstGeom prst="ellipse">
            <a:avLst/>
          </a:prstGeom>
          <a:solidFill>
            <a:schemeClr val="bg1"/>
          </a:solidFill>
          <a:ln w="19050">
            <a:solidFill>
              <a:schemeClr val="tx1"/>
            </a:solidFill>
            <a:prstDash val="solid"/>
          </a:ln>
          <a:effectLst>
            <a:outerShdw sx="100000" sy="100000" kx="0" ky="0" algn="bl" rotWithShape="0" blurRad="101600" dist="38100" dir="2700000">
              <a:srgbClr val="3E2F5B">
                <a:alpha val="100000"/>
              </a:srgbClr>
            </a:outerShdw>
          </a:effectLst>
        </p:spPr>
      </p:sp>
      <p:pic>
        <p:nvPicPr>
          <p:cNvPr id="5" name="Browser icon" descr="Browser icon">    </p:cNvPr>
          <p:cNvPicPr>
            <a:picLocks noChangeAspect="1"/>
          </p:cNvPicPr>
          <p:nvPr/>
        </p:nvPicPr>
        <p:blipFill>
          <a:blip r:embed="rId1"/>
          <a:stretch>
            <a:fillRect/>
          </a:stretch>
        </p:blipFill>
        <p:spPr>
          <a:xfrm>
            <a:off x="1531620" y="1760220"/>
            <a:ext cx="320040" cy="320040"/>
          </a:xfrm>
          <a:prstGeom prst="rect">
            <a:avLst/>
          </a:prstGeom>
        </p:spPr>
      </p:pic>
      <p:sp>
        <p:nvSpPr>
          <p:cNvPr id="6" name="Browser label"/>
          <p:cNvSpPr txBox="1"/>
          <p:nvPr/>
        </p:nvSpPr>
        <p:spPr>
          <a:xfrm>
            <a:off x="640080" y="2377440"/>
            <a:ext cx="2103120" cy="365760"/>
          </a:xfrm>
          <a:prstGeom prst="rect">
            <a:avLst/>
          </a:prstGeom>
          <a:noFill/>
          <a:ln/>
        </p:spPr>
        <p:txBody>
          <a:bodyPr wrap="square" lIns="0" tIns="0" rIns="0" bIns="0" rtlCol="0" anchor="ctr"/>
          <a:lstStyle/>
          <a:p>
            <a:pPr algn="ctr" indent="0" marL="0">
              <a:buNone/>
            </a:pPr>
            <a:r>
              <a:rPr lang="en-US" sz="1800" b="1" dirty="0">
                <a:solidFill>
                  <a:schemeClr val="tx1"/>
                </a:solidFill>
              </a:rPr>
              <a:t>Browser</a:t>
            </a:r>
            <a:endParaRPr lang="en-US" sz="1800" dirty="0"/>
          </a:p>
        </p:txBody>
      </p:sp>
      <p:sp>
        <p:nvSpPr>
          <p:cNvPr id="7" name="Browser sub"/>
          <p:cNvSpPr txBox="1"/>
          <p:nvPr/>
        </p:nvSpPr>
        <p:spPr>
          <a:xfrm>
            <a:off x="640080" y="2743200"/>
            <a:ext cx="2103120" cy="457200"/>
          </a:xfrm>
          <a:prstGeom prst="rect">
            <a:avLst/>
          </a:prstGeom>
          <a:noFill/>
          <a:ln/>
        </p:spPr>
        <p:txBody>
          <a:bodyPr wrap="square" lIns="0" tIns="0" rIns="0" bIns="0" rtlCol="0" anchor="t"/>
          <a:lstStyle/>
          <a:p>
            <a:pPr algn="ctr" indent="0" marL="0">
              <a:buNone/>
            </a:pPr>
            <a:r>
              <a:rPr lang="en-US" sz="1400" dirty="0">
                <a:solidFill>
                  <a:schemeClr val="tx1"/>
                </a:solidFill>
              </a:rPr>
              <a:t>HTML, CSS, vanilla JS</a:t>
            </a:r>
            <a:endParaRPr lang="en-US" sz="1400" dirty="0"/>
          </a:p>
        </p:txBody>
      </p:sp>
      <p:sp>
        <p:nvSpPr>
          <p:cNvPr id="8" name="Arrow 1"/>
          <p:cNvSpPr/>
          <p:nvPr/>
        </p:nvSpPr>
        <p:spPr>
          <a:xfrm>
            <a:off x="2880360" y="2377440"/>
            <a:ext cx="502920" cy="0"/>
          </a:xfrm>
          <a:prstGeom prst="line">
            <a:avLst/>
          </a:prstGeom>
          <a:noFill/>
          <a:ln w="31750">
            <a:solidFill>
              <a:schemeClr val="tx1"/>
            </a:solidFill>
            <a:prstDash val="solid"/>
            <a:tailEnd type="triangle"/>
          </a:ln>
        </p:spPr>
      </p:sp>
      <p:sp>
        <p:nvSpPr>
          <p:cNvPr id="9" name="Express server card"/>
          <p:cNvSpPr/>
          <p:nvPr/>
        </p:nvSpPr>
        <p:spPr>
          <a:xfrm>
            <a:off x="3429000" y="1417320"/>
            <a:ext cx="2286000" cy="1920240"/>
          </a:xfrm>
          <a:prstGeom prst="roundRect">
            <a:avLst>
              <a:gd name="adj" fmla="val 8571"/>
            </a:avLst>
          </a:prstGeom>
          <a:solidFill>
            <a:schemeClr val="accent3"/>
          </a:solidFill>
          <a:ln w="22225">
            <a:solidFill>
              <a:schemeClr val="tx1"/>
            </a:solidFill>
            <a:prstDash val="solid"/>
          </a:ln>
          <a:effectLst>
            <a:outerShdw sx="100000" sy="100000" kx="0" ky="0" algn="bl" rotWithShape="0" blurRad="101600" dist="38100" dir="2700000">
              <a:srgbClr val="3E2F5B">
                <a:alpha val="100000"/>
              </a:srgbClr>
            </a:outerShdw>
          </a:effectLst>
        </p:spPr>
      </p:sp>
      <p:sp>
        <p:nvSpPr>
          <p:cNvPr id="10" name="Express server icon circle"/>
          <p:cNvSpPr/>
          <p:nvPr/>
        </p:nvSpPr>
        <p:spPr>
          <a:xfrm>
            <a:off x="4251960" y="1600200"/>
            <a:ext cx="640080" cy="640080"/>
          </a:xfrm>
          <a:prstGeom prst="ellipse">
            <a:avLst/>
          </a:prstGeom>
          <a:solidFill>
            <a:schemeClr val="bg1"/>
          </a:solidFill>
          <a:ln w="19050">
            <a:solidFill>
              <a:schemeClr val="tx1"/>
            </a:solidFill>
            <a:prstDash val="solid"/>
          </a:ln>
          <a:effectLst>
            <a:outerShdw sx="100000" sy="100000" kx="0" ky="0" algn="bl" rotWithShape="0" blurRad="101600" dist="38100" dir="2700000">
              <a:srgbClr val="3E2F5B">
                <a:alpha val="100000"/>
              </a:srgbClr>
            </a:outerShdw>
          </a:effectLst>
        </p:spPr>
      </p:sp>
      <p:pic>
        <p:nvPicPr>
          <p:cNvPr id="11" name="Express server icon" descr="Express server icon">    </p:cNvPr>
          <p:cNvPicPr>
            <a:picLocks noChangeAspect="1"/>
          </p:cNvPicPr>
          <p:nvPr/>
        </p:nvPicPr>
        <p:blipFill>
          <a:blip r:embed="rId2"/>
          <a:stretch>
            <a:fillRect/>
          </a:stretch>
        </p:blipFill>
        <p:spPr>
          <a:xfrm>
            <a:off x="4411980" y="1760220"/>
            <a:ext cx="320040" cy="320040"/>
          </a:xfrm>
          <a:prstGeom prst="rect">
            <a:avLst/>
          </a:prstGeom>
        </p:spPr>
      </p:pic>
      <p:sp>
        <p:nvSpPr>
          <p:cNvPr id="12" name="Express server label"/>
          <p:cNvSpPr txBox="1"/>
          <p:nvPr/>
        </p:nvSpPr>
        <p:spPr>
          <a:xfrm>
            <a:off x="3520440" y="2377440"/>
            <a:ext cx="2103120" cy="365760"/>
          </a:xfrm>
          <a:prstGeom prst="rect">
            <a:avLst/>
          </a:prstGeom>
          <a:noFill/>
          <a:ln/>
        </p:spPr>
        <p:txBody>
          <a:bodyPr wrap="square" lIns="0" tIns="0" rIns="0" bIns="0" rtlCol="0" anchor="ctr"/>
          <a:lstStyle/>
          <a:p>
            <a:pPr algn="ctr" indent="0" marL="0">
              <a:buNone/>
            </a:pPr>
            <a:r>
              <a:rPr lang="en-US" sz="1800" b="1" dirty="0">
                <a:solidFill>
                  <a:schemeClr val="tx1"/>
                </a:solidFill>
              </a:rPr>
              <a:t>Express server</a:t>
            </a:r>
            <a:endParaRPr lang="en-US" sz="1800" dirty="0"/>
          </a:p>
        </p:txBody>
      </p:sp>
      <p:sp>
        <p:nvSpPr>
          <p:cNvPr id="13" name="Express server sub"/>
          <p:cNvSpPr txBox="1"/>
          <p:nvPr/>
        </p:nvSpPr>
        <p:spPr>
          <a:xfrm>
            <a:off x="3520440" y="2743200"/>
            <a:ext cx="2103120" cy="457200"/>
          </a:xfrm>
          <a:prstGeom prst="rect">
            <a:avLst/>
          </a:prstGeom>
          <a:noFill/>
          <a:ln/>
        </p:spPr>
        <p:txBody>
          <a:bodyPr wrap="square" lIns="0" tIns="0" rIns="0" bIns="0" rtlCol="0" anchor="t"/>
          <a:lstStyle/>
          <a:p>
            <a:pPr algn="ctr" indent="0" marL="0">
              <a:buNone/>
            </a:pPr>
            <a:r>
              <a:rPr lang="en-US" sz="1400" dirty="0">
                <a:solidFill>
                  <a:schemeClr val="tx1"/>
                </a:solidFill>
              </a:rPr>
              <a:t>Routes and validation</a:t>
            </a:r>
            <a:endParaRPr lang="en-US" sz="1400" dirty="0"/>
          </a:p>
        </p:txBody>
      </p:sp>
      <p:sp>
        <p:nvSpPr>
          <p:cNvPr id="14" name="Arrow 2"/>
          <p:cNvSpPr/>
          <p:nvPr/>
        </p:nvSpPr>
        <p:spPr>
          <a:xfrm>
            <a:off x="5760720" y="2377440"/>
            <a:ext cx="502920" cy="0"/>
          </a:xfrm>
          <a:prstGeom prst="line">
            <a:avLst/>
          </a:prstGeom>
          <a:noFill/>
          <a:ln w="31750">
            <a:solidFill>
              <a:schemeClr val="tx1"/>
            </a:solidFill>
            <a:prstDash val="solid"/>
            <a:tailEnd type="triangle"/>
          </a:ln>
        </p:spPr>
      </p:sp>
      <p:sp>
        <p:nvSpPr>
          <p:cNvPr id="15" name="MongoDB card"/>
          <p:cNvSpPr/>
          <p:nvPr/>
        </p:nvSpPr>
        <p:spPr>
          <a:xfrm>
            <a:off x="6309360" y="1417320"/>
            <a:ext cx="2286000" cy="1920240"/>
          </a:xfrm>
          <a:prstGeom prst="roundRect">
            <a:avLst>
              <a:gd name="adj" fmla="val 8571"/>
            </a:avLst>
          </a:prstGeom>
          <a:solidFill>
            <a:schemeClr val="accent2"/>
          </a:solidFill>
          <a:ln w="22225">
            <a:solidFill>
              <a:schemeClr val="tx1"/>
            </a:solidFill>
            <a:prstDash val="solid"/>
          </a:ln>
          <a:effectLst>
            <a:outerShdw sx="100000" sy="100000" kx="0" ky="0" algn="bl" rotWithShape="0" blurRad="101600" dist="38100" dir="2700000">
              <a:srgbClr val="3E2F5B">
                <a:alpha val="100000"/>
              </a:srgbClr>
            </a:outerShdw>
          </a:effectLst>
        </p:spPr>
      </p:sp>
      <p:sp>
        <p:nvSpPr>
          <p:cNvPr id="16" name="MongoDB icon circle"/>
          <p:cNvSpPr/>
          <p:nvPr/>
        </p:nvSpPr>
        <p:spPr>
          <a:xfrm>
            <a:off x="7132320" y="1600200"/>
            <a:ext cx="640080" cy="640080"/>
          </a:xfrm>
          <a:prstGeom prst="ellipse">
            <a:avLst/>
          </a:prstGeom>
          <a:solidFill>
            <a:schemeClr val="bg1"/>
          </a:solidFill>
          <a:ln w="19050">
            <a:solidFill>
              <a:schemeClr val="tx1"/>
            </a:solidFill>
            <a:prstDash val="solid"/>
          </a:ln>
          <a:effectLst>
            <a:outerShdw sx="100000" sy="100000" kx="0" ky="0" algn="bl" rotWithShape="0" blurRad="101600" dist="38100" dir="2700000">
              <a:srgbClr val="3E2F5B">
                <a:alpha val="100000"/>
              </a:srgbClr>
            </a:outerShdw>
          </a:effectLst>
        </p:spPr>
      </p:sp>
      <p:pic>
        <p:nvPicPr>
          <p:cNvPr id="17" name="MongoDB icon" descr="MongoDB icon">    </p:cNvPr>
          <p:cNvPicPr>
            <a:picLocks noChangeAspect="1"/>
          </p:cNvPicPr>
          <p:nvPr/>
        </p:nvPicPr>
        <p:blipFill>
          <a:blip r:embed="rId3"/>
          <a:stretch>
            <a:fillRect/>
          </a:stretch>
        </p:blipFill>
        <p:spPr>
          <a:xfrm>
            <a:off x="7292340" y="1760220"/>
            <a:ext cx="320040" cy="320040"/>
          </a:xfrm>
          <a:prstGeom prst="rect">
            <a:avLst/>
          </a:prstGeom>
        </p:spPr>
      </p:pic>
      <p:sp>
        <p:nvSpPr>
          <p:cNvPr id="18" name="MongoDB label"/>
          <p:cNvSpPr txBox="1"/>
          <p:nvPr/>
        </p:nvSpPr>
        <p:spPr>
          <a:xfrm>
            <a:off x="6400800" y="2377440"/>
            <a:ext cx="2103120" cy="365760"/>
          </a:xfrm>
          <a:prstGeom prst="rect">
            <a:avLst/>
          </a:prstGeom>
          <a:noFill/>
          <a:ln/>
        </p:spPr>
        <p:txBody>
          <a:bodyPr wrap="square" lIns="0" tIns="0" rIns="0" bIns="0" rtlCol="0" anchor="ctr"/>
          <a:lstStyle/>
          <a:p>
            <a:pPr algn="ctr" indent="0" marL="0">
              <a:buNone/>
            </a:pPr>
            <a:r>
              <a:rPr lang="en-US" sz="1800" b="1" dirty="0">
                <a:solidFill>
                  <a:schemeClr val="tx1"/>
                </a:solidFill>
              </a:rPr>
              <a:t>MongoDB</a:t>
            </a:r>
            <a:endParaRPr lang="en-US" sz="1800" dirty="0"/>
          </a:p>
        </p:txBody>
      </p:sp>
      <p:sp>
        <p:nvSpPr>
          <p:cNvPr id="19" name="MongoDB sub"/>
          <p:cNvSpPr txBox="1"/>
          <p:nvPr/>
        </p:nvSpPr>
        <p:spPr>
          <a:xfrm>
            <a:off x="6400800" y="2743200"/>
            <a:ext cx="2103120" cy="457200"/>
          </a:xfrm>
          <a:prstGeom prst="rect">
            <a:avLst/>
          </a:prstGeom>
          <a:noFill/>
          <a:ln/>
        </p:spPr>
        <p:txBody>
          <a:bodyPr wrap="square" lIns="0" tIns="0" rIns="0" bIns="0" rtlCol="0" anchor="t"/>
          <a:lstStyle/>
          <a:p>
            <a:pPr algn="ctr" indent="0" marL="0">
              <a:buNone/>
            </a:pPr>
            <a:r>
              <a:rPr lang="en-US" sz="1400" dirty="0">
                <a:solidFill>
                  <a:schemeClr val="tx1"/>
                </a:solidFill>
              </a:rPr>
              <a:t>capsules and memories</a:t>
            </a:r>
            <a:endParaRPr lang="en-US" sz="1400" dirty="0"/>
          </a:p>
        </p:txBody>
      </p:sp>
      <p:sp>
        <p:nvSpPr>
          <p:cNvPr id="20" name="Cookie pill"/>
          <p:cNvSpPr/>
          <p:nvPr/>
        </p:nvSpPr>
        <p:spPr>
          <a:xfrm>
            <a:off x="1097280" y="3749040"/>
            <a:ext cx="6949440" cy="502920"/>
          </a:xfrm>
          <a:prstGeom prst="roundRect">
            <a:avLst>
              <a:gd name="adj" fmla="val 50000"/>
            </a:avLst>
          </a:prstGeom>
          <a:solidFill>
            <a:schemeClr val="accent4"/>
          </a:solidFill>
          <a:ln w="19050">
            <a:solidFill>
              <a:schemeClr val="tx1"/>
            </a:solidFill>
            <a:prstDash val="solid"/>
          </a:ln>
          <a:effectLst>
            <a:outerShdw sx="100000" sy="100000" kx="0" ky="0" algn="bl" rotWithShape="0" blurRad="101600" dist="38100" dir="2700000">
              <a:srgbClr val="3E2F5B">
                <a:alpha val="100000"/>
              </a:srgbClr>
            </a:outerShdw>
          </a:effectLst>
        </p:spPr>
      </p:sp>
      <p:sp>
        <p:nvSpPr>
          <p:cNvPr id="21" name="Cookie pill text"/>
          <p:cNvSpPr txBox="1"/>
          <p:nvPr/>
        </p:nvSpPr>
        <p:spPr>
          <a:xfrm>
            <a:off x="1097280" y="3749040"/>
            <a:ext cx="6949440" cy="502920"/>
          </a:xfrm>
          <a:prstGeom prst="rect">
            <a:avLst/>
          </a:prstGeom>
          <a:noFill/>
          <a:ln/>
        </p:spPr>
        <p:txBody>
          <a:bodyPr wrap="square" lIns="0" tIns="0" rIns="0" bIns="0" rtlCol="0" anchor="ctr"/>
          <a:lstStyle/>
          <a:p>
            <a:pPr algn="ctr" indent="0" marL="0">
              <a:buNone/>
            </a:pPr>
            <a:r>
              <a:rPr lang="en-US" sz="1600" b="1" dirty="0">
                <a:solidFill>
                  <a:schemeClr val="tx1"/>
                </a:solidFill>
              </a:rPr>
              <a:t>Every request carries a random anonymous ID cookie</a:t>
            </a:r>
            <a:endParaRPr lang="en-US" sz="16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latin typeface="Calibri" pitchFamily="34" charset="0"/>
                <a:ea typeface="Calibri" pitchFamily="34" charset="-122"/>
                <a:cs typeface="Calibri" pitchFamily="34" charset="-120"/>
              </a:rPr>
              <a:t>The lock lives on the server</a:t>
            </a:r>
            <a:endParaRPr lang="en-US" sz="3400" dirty="0"/>
          </a:p>
        </p:txBody>
      </p:sp>
      <p:sp>
        <p:nvSpPr>
          <p:cNvPr id="3" name="Locked card"/>
          <p:cNvSpPr/>
          <p:nvPr/>
        </p:nvSpPr>
        <p:spPr>
          <a:xfrm>
            <a:off x="548640" y="1371600"/>
            <a:ext cx="3840480" cy="2331720"/>
          </a:xfrm>
          <a:prstGeom prst="roundRect">
            <a:avLst>
              <a:gd name="adj" fmla="val 7059"/>
            </a:avLst>
          </a:prstGeom>
          <a:solidFill>
            <a:schemeClr val="accent3"/>
          </a:solidFill>
          <a:ln w="22225">
            <a:solidFill>
              <a:schemeClr val="tx1"/>
            </a:solidFill>
            <a:prstDash val="solid"/>
          </a:ln>
          <a:effectLst>
            <a:outerShdw sx="100000" sy="100000" kx="0" ky="0" algn="bl" rotWithShape="0" blurRad="101600" dist="38100" dir="2700000">
              <a:srgbClr val="3E2F5B">
                <a:alpha val="100000"/>
              </a:srgbClr>
            </a:outerShdw>
          </a:effectLst>
        </p:spPr>
      </p:sp>
      <p:sp>
        <p:nvSpPr>
          <p:cNvPr id="4" name="Unlocked card"/>
          <p:cNvSpPr/>
          <p:nvPr/>
        </p:nvSpPr>
        <p:spPr>
          <a:xfrm>
            <a:off x="4754880" y="1371600"/>
            <a:ext cx="3840480" cy="2331720"/>
          </a:xfrm>
          <a:prstGeom prst="roundRect">
            <a:avLst>
              <a:gd name="adj" fmla="val 7059"/>
            </a:avLst>
          </a:prstGeom>
          <a:solidFill>
            <a:schemeClr val="accent2"/>
          </a:solidFill>
          <a:ln w="22225">
            <a:solidFill>
              <a:schemeClr val="tx1"/>
            </a:solidFill>
            <a:prstDash val="solid"/>
          </a:ln>
          <a:effectLst>
            <a:outerShdw sx="100000" sy="100000" kx="0" ky="0" algn="bl" rotWithShape="0" blurRad="101600" dist="38100" dir="2700000">
              <a:srgbClr val="3E2F5B">
                <a:alpha val="100000"/>
              </a:srgbClr>
            </a:outerShdw>
          </a:effectLst>
        </p:spPr>
      </p:sp>
      <p:sp>
        <p:nvSpPr>
          <p:cNvPr id="5" name="Locked icon circle"/>
          <p:cNvSpPr/>
          <p:nvPr/>
        </p:nvSpPr>
        <p:spPr>
          <a:xfrm>
            <a:off x="777240" y="1554480"/>
            <a:ext cx="594360" cy="594360"/>
          </a:xfrm>
          <a:prstGeom prst="ellipse">
            <a:avLst/>
          </a:prstGeom>
          <a:solidFill>
            <a:schemeClr val="bg1"/>
          </a:solidFill>
          <a:ln w="19050">
            <a:solidFill>
              <a:schemeClr val="tx1"/>
            </a:solidFill>
            <a:prstDash val="solid"/>
          </a:ln>
          <a:effectLst>
            <a:outerShdw sx="100000" sy="100000" kx="0" ky="0" algn="bl" rotWithShape="0" blurRad="101600" dist="38100" dir="2700000">
              <a:srgbClr val="3E2F5B">
                <a:alpha val="100000"/>
              </a:srgbClr>
            </a:outerShdw>
          </a:effectLst>
        </p:spPr>
      </p:sp>
      <p:pic>
        <p:nvPicPr>
          <p:cNvPr id="6" name="Locked icon" descr="Locked icon">    </p:cNvPr>
          <p:cNvPicPr>
            <a:picLocks noChangeAspect="1"/>
          </p:cNvPicPr>
          <p:nvPr/>
        </p:nvPicPr>
        <p:blipFill>
          <a:blip r:embed="rId1"/>
          <a:stretch>
            <a:fillRect/>
          </a:stretch>
        </p:blipFill>
        <p:spPr>
          <a:xfrm>
            <a:off x="925830" y="1703070"/>
            <a:ext cx="297180" cy="297180"/>
          </a:xfrm>
          <a:prstGeom prst="rect">
            <a:avLst/>
          </a:prstGeom>
        </p:spPr>
      </p:pic>
      <p:sp>
        <p:nvSpPr>
          <p:cNvPr id="7" name="Unlocked icon circle"/>
          <p:cNvSpPr/>
          <p:nvPr/>
        </p:nvSpPr>
        <p:spPr>
          <a:xfrm>
            <a:off x="4983480" y="1554480"/>
            <a:ext cx="594360" cy="594360"/>
          </a:xfrm>
          <a:prstGeom prst="ellipse">
            <a:avLst/>
          </a:prstGeom>
          <a:solidFill>
            <a:schemeClr val="bg1"/>
          </a:solidFill>
          <a:ln w="19050">
            <a:solidFill>
              <a:schemeClr val="tx1"/>
            </a:solidFill>
            <a:prstDash val="solid"/>
          </a:ln>
          <a:effectLst>
            <a:outerShdw sx="100000" sy="100000" kx="0" ky="0" algn="bl" rotWithShape="0" blurRad="101600" dist="38100" dir="2700000">
              <a:srgbClr val="3E2F5B">
                <a:alpha val="100000"/>
              </a:srgbClr>
            </a:outerShdw>
          </a:effectLst>
        </p:spPr>
      </p:sp>
      <p:pic>
        <p:nvPicPr>
          <p:cNvPr id="8" name="Unlocked icon" descr="Unlocked icon">    </p:cNvPr>
          <p:cNvPicPr>
            <a:picLocks noChangeAspect="1"/>
          </p:cNvPicPr>
          <p:nvPr/>
        </p:nvPicPr>
        <p:blipFill>
          <a:blip r:embed="rId2"/>
          <a:stretch>
            <a:fillRect/>
          </a:stretch>
        </p:blipFill>
        <p:spPr>
          <a:xfrm>
            <a:off x="5132070" y="1703070"/>
            <a:ext cx="297180" cy="297180"/>
          </a:xfrm>
          <a:prstGeom prst="rect">
            <a:avLst/>
          </a:prstGeom>
        </p:spPr>
      </p:pic>
      <p:sp>
        <p:nvSpPr>
          <p:cNvPr id="9" name="Before heading"/>
          <p:cNvSpPr txBox="1"/>
          <p:nvPr/>
        </p:nvSpPr>
        <p:spPr>
          <a:xfrm>
            <a:off x="1508760" y="1554480"/>
            <a:ext cx="2743200" cy="594360"/>
          </a:xfrm>
          <a:prstGeom prst="rect">
            <a:avLst/>
          </a:prstGeom>
          <a:noFill/>
          <a:ln/>
        </p:spPr>
        <p:txBody>
          <a:bodyPr wrap="square" lIns="0" tIns="0" rIns="0" bIns="0" rtlCol="0" anchor="ctr"/>
          <a:lstStyle/>
          <a:p>
            <a:pPr algn="l" indent="0" marL="0">
              <a:buNone/>
            </a:pPr>
            <a:r>
              <a:rPr lang="en-US" sz="2000" b="1" dirty="0">
                <a:solidFill>
                  <a:schemeClr val="tx1"/>
                </a:solidFill>
              </a:rPr>
              <a:t>Before the date</a:t>
            </a:r>
            <a:endParaRPr lang="en-US" sz="2000" dirty="0"/>
          </a:p>
        </p:txBody>
      </p:sp>
      <p:sp>
        <p:nvSpPr>
          <p:cNvPr id="10" name="After heading"/>
          <p:cNvSpPr txBox="1"/>
          <p:nvPr/>
        </p:nvSpPr>
        <p:spPr>
          <a:xfrm>
            <a:off x="5715000" y="1554480"/>
            <a:ext cx="2743200" cy="594360"/>
          </a:xfrm>
          <a:prstGeom prst="rect">
            <a:avLst/>
          </a:prstGeom>
          <a:noFill/>
          <a:ln/>
        </p:spPr>
        <p:txBody>
          <a:bodyPr wrap="square" lIns="0" tIns="0" rIns="0" bIns="0" rtlCol="0" anchor="ctr"/>
          <a:lstStyle/>
          <a:p>
            <a:pPr algn="l" indent="0" marL="0">
              <a:buNone/>
            </a:pPr>
            <a:r>
              <a:rPr lang="en-US" sz="2000" b="1" dirty="0">
                <a:solidFill>
                  <a:schemeClr val="tx1"/>
                </a:solidFill>
              </a:rPr>
              <a:t>After the date</a:t>
            </a:r>
            <a:endParaRPr lang="en-US" sz="2000" dirty="0"/>
          </a:p>
        </p:txBody>
      </p:sp>
      <p:sp>
        <p:nvSpPr>
          <p:cNvPr id="11" name="Before list"/>
          <p:cNvSpPr txBox="1"/>
          <p:nvPr/>
        </p:nvSpPr>
        <p:spPr>
          <a:xfrm>
            <a:off x="777240" y="2377440"/>
            <a:ext cx="3383280" cy="118872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chemeClr val="tx1"/>
                </a:solidFill>
              </a:rPr>
              <a:t>List returns title and date only</a:t>
            </a:r>
            <a:endParaRPr lang="en-US" sz="1600" dirty="0"/>
          </a:p>
          <a:p>
            <a:pPr marL="203200" indent="-203200">
              <a:spcAft>
                <a:spcPts val="800"/>
              </a:spcAft>
              <a:buSzPct val="100000"/>
              <a:buChar char="•"/>
            </a:pPr>
            <a:r>
              <a:rPr lang="en-US" sz="1600" dirty="0">
                <a:solidFill>
                  <a:schemeClr val="tx1"/>
                </a:solidFill>
              </a:rPr>
              <a:t>Reading it returns 403</a:t>
            </a:r>
            <a:endParaRPr lang="en-US" sz="1600" dirty="0"/>
          </a:p>
        </p:txBody>
      </p:sp>
      <p:sp>
        <p:nvSpPr>
          <p:cNvPr id="12" name="After list"/>
          <p:cNvSpPr txBox="1"/>
          <p:nvPr/>
        </p:nvSpPr>
        <p:spPr>
          <a:xfrm>
            <a:off x="4983480" y="2377440"/>
            <a:ext cx="3383280" cy="118872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chemeClr val="tx1"/>
                </a:solidFill>
              </a:rPr>
              <a:t>Message is sent</a:t>
            </a:r>
            <a:endParaRPr lang="en-US" sz="1600" dirty="0"/>
          </a:p>
          <a:p>
            <a:pPr marL="203200" indent="-203200">
              <a:spcAft>
                <a:spcPts val="800"/>
              </a:spcAft>
              <a:buSzPct val="100000"/>
              <a:buChar char="•"/>
            </a:pPr>
            <a:r>
              <a:rPr lang="en-US" sz="1600" dirty="0">
                <a:solidFill>
                  <a:schemeClr val="tx1"/>
                </a:solidFill>
              </a:rPr>
              <a:t>Open button appears</a:t>
            </a:r>
            <a:endParaRPr lang="en-US" sz="1600" dirty="0"/>
          </a:p>
        </p:txBody>
      </p:sp>
      <p:sp>
        <p:nvSpPr>
          <p:cNvPr id="13" name="Peek pill"/>
          <p:cNvSpPr/>
          <p:nvPr/>
        </p:nvSpPr>
        <p:spPr>
          <a:xfrm>
            <a:off x="548640" y="3977640"/>
            <a:ext cx="3840480" cy="457200"/>
          </a:xfrm>
          <a:prstGeom prst="roundRect">
            <a:avLst>
              <a:gd name="adj" fmla="val 50000"/>
            </a:avLst>
          </a:prstGeom>
          <a:solidFill>
            <a:schemeClr val="accent1"/>
          </a:solidFill>
          <a:ln w="19050">
            <a:solidFill>
              <a:schemeClr val="tx1"/>
            </a:solidFill>
            <a:prstDash val="solid"/>
          </a:ln>
          <a:effectLst>
            <a:outerShdw sx="100000" sy="100000" kx="0" ky="0" algn="bl" rotWithShape="0" blurRad="101600" dist="38100" dir="2700000">
              <a:srgbClr val="3E2F5B">
                <a:alpha val="100000"/>
              </a:srgbClr>
            </a:outerShdw>
          </a:effectLst>
        </p:spPr>
      </p:sp>
      <p:sp>
        <p:nvSpPr>
          <p:cNvPr id="14" name="Peek pill text"/>
          <p:cNvSpPr txBox="1"/>
          <p:nvPr/>
        </p:nvSpPr>
        <p:spPr>
          <a:xfrm>
            <a:off x="548640" y="3977640"/>
            <a:ext cx="3840480" cy="457200"/>
          </a:xfrm>
          <a:prstGeom prst="rect">
            <a:avLst/>
          </a:prstGeom>
          <a:noFill/>
          <a:ln/>
        </p:spPr>
        <p:txBody>
          <a:bodyPr wrap="square" lIns="0" tIns="0" rIns="0" bIns="0" rtlCol="0" anchor="ctr"/>
          <a:lstStyle/>
          <a:p>
            <a:pPr algn="ctr" indent="0" marL="0">
              <a:buNone/>
            </a:pPr>
            <a:r>
              <a:rPr lang="en-US" sz="1400" b="1" dirty="0">
                <a:solidFill>
                  <a:schemeClr val="tx1"/>
                </a:solidFill>
              </a:rPr>
              <a:t>Inspecting the browser reveals nothing</a:t>
            </a:r>
            <a:endParaRPr lang="en-US" sz="1400" dirty="0"/>
          </a:p>
        </p:txBody>
      </p:sp>
      <p:sp>
        <p:nvSpPr>
          <p:cNvPr id="15" name="Later pill"/>
          <p:cNvSpPr/>
          <p:nvPr/>
        </p:nvSpPr>
        <p:spPr>
          <a:xfrm>
            <a:off x="4754880" y="3977640"/>
            <a:ext cx="3840480" cy="457200"/>
          </a:xfrm>
          <a:prstGeom prst="roundRect">
            <a:avLst>
              <a:gd name="adj" fmla="val 50000"/>
            </a:avLst>
          </a:prstGeom>
          <a:solidFill>
            <a:schemeClr val="accent5"/>
          </a:solidFill>
          <a:ln w="19050">
            <a:solidFill>
              <a:schemeClr val="tx1"/>
            </a:solidFill>
            <a:prstDash val="solid"/>
          </a:ln>
          <a:effectLst>
            <a:outerShdw sx="100000" sy="100000" kx="0" ky="0" algn="bl" rotWithShape="0" blurRad="101600" dist="38100" dir="2700000">
              <a:srgbClr val="3E2F5B">
                <a:alpha val="100000"/>
              </a:srgbClr>
            </a:outerShdw>
          </a:effectLst>
        </p:spPr>
      </p:sp>
      <p:sp>
        <p:nvSpPr>
          <p:cNvPr id="16" name="Later pill text"/>
          <p:cNvSpPr txBox="1"/>
          <p:nvPr/>
        </p:nvSpPr>
        <p:spPr>
          <a:xfrm>
            <a:off x="4754880" y="3977640"/>
            <a:ext cx="3840480" cy="457200"/>
          </a:xfrm>
          <a:prstGeom prst="rect">
            <a:avLst/>
          </a:prstGeom>
          <a:noFill/>
          <a:ln/>
        </p:spPr>
        <p:txBody>
          <a:bodyPr wrap="square" lIns="0" tIns="0" rIns="0" bIns="0" rtlCol="0" anchor="ctr"/>
          <a:lstStyle/>
          <a:p>
            <a:pPr algn="ctr" indent="0" marL="0">
              <a:buNone/>
            </a:pPr>
            <a:r>
              <a:rPr lang="en-US" sz="1400" b="1" dirty="0">
                <a:solidFill>
                  <a:schemeClr val="tx1"/>
                </a:solidFill>
              </a:rPr>
              <a:t>Edits can only push the date later</a:t>
            </a:r>
            <a:endParaRPr lang="en-US" sz="14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latin typeface="Calibri" pitchFamily="34" charset="0"/>
                <a:ea typeface="Calibri" pitchFamily="34" charset="-122"/>
                <a:cs typeface="Calibri" pitchFamily="34" charset="-120"/>
              </a:rPr>
              <a:t>Two collections, full CRUD</a:t>
            </a:r>
            <a:endParaRPr lang="en-US" sz="3400" dirty="0"/>
          </a:p>
        </p:txBody>
      </p:sp>
      <p:sp>
        <p:nvSpPr>
          <p:cNvPr id="3" name="Capsules doc"/>
          <p:cNvSpPr/>
          <p:nvPr/>
        </p:nvSpPr>
        <p:spPr>
          <a:xfrm>
            <a:off x="548640" y="1371600"/>
            <a:ext cx="3840480" cy="2377440"/>
          </a:xfrm>
          <a:prstGeom prst="roundRect">
            <a:avLst>
              <a:gd name="adj" fmla="val 6923"/>
            </a:avLst>
          </a:prstGeom>
          <a:solidFill>
            <a:schemeClr val="bg1"/>
          </a:solidFill>
          <a:ln w="22225">
            <a:solidFill>
              <a:schemeClr val="tx1"/>
            </a:solidFill>
            <a:prstDash val="solid"/>
          </a:ln>
          <a:effectLst>
            <a:outerShdw sx="100000" sy="100000" kx="0" ky="0" algn="bl" rotWithShape="0" blurRad="101600" dist="38100" dir="2700000">
              <a:srgbClr val="3E2F5B">
                <a:alpha val="100000"/>
              </a:srgbClr>
            </a:outerShdw>
          </a:effectLst>
        </p:spPr>
      </p:sp>
      <p:sp>
        <p:nvSpPr>
          <p:cNvPr id="4" name="Memories doc"/>
          <p:cNvSpPr/>
          <p:nvPr/>
        </p:nvSpPr>
        <p:spPr>
          <a:xfrm>
            <a:off x="4754880" y="1371600"/>
            <a:ext cx="3840480" cy="2377440"/>
          </a:xfrm>
          <a:prstGeom prst="roundRect">
            <a:avLst>
              <a:gd name="adj" fmla="val 6923"/>
            </a:avLst>
          </a:prstGeom>
          <a:solidFill>
            <a:schemeClr val="bg1"/>
          </a:solidFill>
          <a:ln w="22225">
            <a:solidFill>
              <a:schemeClr val="tx1"/>
            </a:solidFill>
            <a:prstDash val="solid"/>
          </a:ln>
          <a:effectLst>
            <a:outerShdw sx="100000" sy="100000" kx="0" ky="0" algn="bl" rotWithShape="0" blurRad="101600" dist="38100" dir="2700000">
              <a:srgbClr val="3E2F5B">
                <a:alpha val="100000"/>
              </a:srgbClr>
            </a:outerShdw>
          </a:effectLst>
        </p:spPr>
      </p:sp>
      <p:sp>
        <p:nvSpPr>
          <p:cNvPr id="5" name="Capsules name"/>
          <p:cNvSpPr txBox="1"/>
          <p:nvPr/>
        </p:nvSpPr>
        <p:spPr>
          <a:xfrm>
            <a:off x="777240" y="1508760"/>
            <a:ext cx="3383280" cy="365760"/>
          </a:xfrm>
          <a:prstGeom prst="rect">
            <a:avLst/>
          </a:prstGeom>
          <a:noFill/>
          <a:ln/>
        </p:spPr>
        <p:txBody>
          <a:bodyPr wrap="square" lIns="0" tIns="0" rIns="0" bIns="0" rtlCol="0" anchor="ctr"/>
          <a:lstStyle/>
          <a:p>
            <a:pPr indent="0" marL="0">
              <a:buNone/>
            </a:pPr>
            <a:r>
              <a:rPr lang="en-US" sz="1800" b="1" dirty="0">
                <a:solidFill>
                  <a:schemeClr val="tx1"/>
                </a:solidFill>
              </a:rPr>
              <a:t>capsules</a:t>
            </a:r>
            <a:endParaRPr lang="en-US" sz="1800" dirty="0"/>
          </a:p>
        </p:txBody>
      </p:sp>
      <p:sp>
        <p:nvSpPr>
          <p:cNvPr id="6" name="Capsules fields"/>
          <p:cNvSpPr txBox="1"/>
          <p:nvPr/>
        </p:nvSpPr>
        <p:spPr>
          <a:xfrm>
            <a:off x="777240" y="1965960"/>
            <a:ext cx="3383280" cy="1645920"/>
          </a:xfrm>
          <a:prstGeom prst="rect">
            <a:avLst/>
          </a:prstGeom>
          <a:noFill/>
          <a:ln/>
        </p:spPr>
        <p:txBody>
          <a:bodyPr wrap="square" lIns="0" tIns="0" rIns="0" bIns="0" rtlCol="0" anchor="t"/>
          <a:lstStyle/>
          <a:p>
            <a:pPr indent="0" marL="0">
              <a:buNone/>
            </a:pPr>
            <a:r>
              <a:rPr lang="en-US" sz="1400" dirty="0">
                <a:solidFill>
                  <a:schemeClr val="tx2"/>
                </a:solidFill>
                <a:latin typeface="Courier New" pitchFamily="34" charset="0"/>
                <a:ea typeface="Courier New" pitchFamily="34" charset="-122"/>
                <a:cs typeface="Courier New" pitchFamily="34" charset="-120"/>
              </a:rPr>
              <a:t>ownerId</a:t>
            </a:r>
            <a:endParaRPr lang="en-US" sz="1400" dirty="0"/>
          </a:p>
          <a:p>
            <a:pPr indent="0" marL="0">
              <a:buNone/>
            </a:pPr>
            <a:r>
              <a:rPr lang="en-US" sz="1400" dirty="0">
                <a:solidFill>
                  <a:schemeClr val="tx2"/>
                </a:solidFill>
                <a:latin typeface="Courier New" pitchFamily="34" charset="0"/>
                <a:ea typeface="Courier New" pitchFamily="34" charset="-122"/>
                <a:cs typeface="Courier New" pitchFamily="34" charset="-120"/>
              </a:rPr>
              <a:t>title</a:t>
            </a:r>
            <a:endParaRPr lang="en-US" sz="1400" dirty="0"/>
          </a:p>
          <a:p>
            <a:pPr indent="0" marL="0">
              <a:buNone/>
            </a:pPr>
            <a:r>
              <a:rPr lang="en-US" sz="1400" dirty="0">
                <a:solidFill>
                  <a:schemeClr val="tx2"/>
                </a:solidFill>
                <a:latin typeface="Courier New" pitchFamily="34" charset="0"/>
                <a:ea typeface="Courier New" pitchFamily="34" charset="-122"/>
                <a:cs typeface="Courier New" pitchFamily="34" charset="-120"/>
              </a:rPr>
              <a:t>message</a:t>
            </a:r>
            <a:endParaRPr lang="en-US" sz="1400" dirty="0"/>
          </a:p>
          <a:p>
            <a:pPr indent="0" marL="0">
              <a:buNone/>
            </a:pPr>
            <a:r>
              <a:rPr lang="en-US" sz="1400" dirty="0">
                <a:solidFill>
                  <a:schemeClr val="tx2"/>
                </a:solidFill>
                <a:latin typeface="Courier New" pitchFamily="34" charset="0"/>
                <a:ea typeface="Courier New" pitchFamily="34" charset="-122"/>
                <a:cs typeface="Courier New" pitchFamily="34" charset="-120"/>
              </a:rPr>
              <a:t>unlockAt</a:t>
            </a:r>
            <a:endParaRPr lang="en-US" sz="1400" dirty="0"/>
          </a:p>
          <a:p>
            <a:pPr indent="0" marL="0">
              <a:buNone/>
            </a:pPr>
            <a:r>
              <a:rPr lang="en-US" sz="1400" dirty="0">
                <a:solidFill>
                  <a:schemeClr val="tx2"/>
                </a:solidFill>
                <a:latin typeface="Courier New" pitchFamily="34" charset="0"/>
                <a:ea typeface="Courier New" pitchFamily="34" charset="-122"/>
                <a:cs typeface="Courier New" pitchFamily="34" charset="-120"/>
              </a:rPr>
              <a:t>createdAt</a:t>
            </a:r>
            <a:endParaRPr lang="en-US" sz="1400" dirty="0"/>
          </a:p>
        </p:txBody>
      </p:sp>
      <p:sp>
        <p:nvSpPr>
          <p:cNvPr id="7" name="Memories name"/>
          <p:cNvSpPr txBox="1"/>
          <p:nvPr/>
        </p:nvSpPr>
        <p:spPr>
          <a:xfrm>
            <a:off x="4983480" y="1508760"/>
            <a:ext cx="3383280" cy="365760"/>
          </a:xfrm>
          <a:prstGeom prst="rect">
            <a:avLst/>
          </a:prstGeom>
          <a:noFill/>
          <a:ln/>
        </p:spPr>
        <p:txBody>
          <a:bodyPr wrap="square" lIns="0" tIns="0" rIns="0" bIns="0" rtlCol="0" anchor="ctr"/>
          <a:lstStyle/>
          <a:p>
            <a:pPr indent="0" marL="0">
              <a:buNone/>
            </a:pPr>
            <a:r>
              <a:rPr lang="en-US" sz="1800" b="1" dirty="0">
                <a:solidFill>
                  <a:schemeClr val="tx1"/>
                </a:solidFill>
              </a:rPr>
              <a:t>memories</a:t>
            </a:r>
            <a:endParaRPr lang="en-US" sz="1800" dirty="0"/>
          </a:p>
        </p:txBody>
      </p:sp>
      <p:sp>
        <p:nvSpPr>
          <p:cNvPr id="8" name="Memories fields"/>
          <p:cNvSpPr txBox="1"/>
          <p:nvPr/>
        </p:nvSpPr>
        <p:spPr>
          <a:xfrm>
            <a:off x="4983480" y="1965960"/>
            <a:ext cx="3383280" cy="1645920"/>
          </a:xfrm>
          <a:prstGeom prst="rect">
            <a:avLst/>
          </a:prstGeom>
          <a:noFill/>
          <a:ln/>
        </p:spPr>
        <p:txBody>
          <a:bodyPr wrap="square" lIns="0" tIns="0" rIns="0" bIns="0" rtlCol="0" anchor="t"/>
          <a:lstStyle/>
          <a:p>
            <a:pPr indent="0" marL="0">
              <a:buNone/>
            </a:pPr>
            <a:r>
              <a:rPr lang="en-US" sz="1400" dirty="0">
                <a:solidFill>
                  <a:schemeClr val="tx2"/>
                </a:solidFill>
                <a:latin typeface="Courier New" pitchFamily="34" charset="0"/>
                <a:ea typeface="Courier New" pitchFamily="34" charset="-122"/>
                <a:cs typeface="Courier New" pitchFamily="34" charset="-120"/>
              </a:rPr>
              <a:t>ownerId, text</a:t>
            </a:r>
            <a:endParaRPr lang="en-US" sz="1400" dirty="0"/>
          </a:p>
          <a:p>
            <a:pPr indent="0" marL="0">
              <a:buNone/>
            </a:pPr>
            <a:r>
              <a:rPr lang="en-US" sz="1400" dirty="0">
                <a:solidFill>
                  <a:schemeClr val="tx2"/>
                </a:solidFill>
                <a:latin typeface="Courier New" pitchFamily="34" charset="0"/>
                <a:ea typeface="Courier New" pitchFamily="34" charset="-122"/>
                <a:cs typeface="Courier New" pitchFamily="34" charset="-120"/>
              </a:rPr>
              <a:t>place, year, season</a:t>
            </a:r>
            <a:endParaRPr lang="en-US" sz="1400" dirty="0"/>
          </a:p>
          <a:p>
            <a:pPr indent="0" marL="0">
              <a:buNone/>
            </a:pPr>
            <a:r>
              <a:rPr lang="en-US" sz="1400" dirty="0">
                <a:solidFill>
                  <a:schemeClr val="tx2"/>
                </a:solidFill>
                <a:latin typeface="Courier New" pitchFamily="34" charset="0"/>
                <a:ea typeface="Courier New" pitchFamily="34" charset="-122"/>
                <a:cs typeface="Courier New" pitchFamily="34" charset="-120"/>
              </a:rPr>
              <a:t>mood, color</a:t>
            </a:r>
            <a:endParaRPr lang="en-US" sz="1400" dirty="0"/>
          </a:p>
          <a:p>
            <a:pPr indent="0" marL="0">
              <a:buNone/>
            </a:pPr>
            <a:r>
              <a:rPr lang="en-US" sz="1400" dirty="0">
                <a:solidFill>
                  <a:schemeClr val="tx2"/>
                </a:solidFill>
                <a:latin typeface="Courier New" pitchFamily="34" charset="0"/>
                <a:ea typeface="Courier New" pitchFamily="34" charset="-122"/>
                <a:cs typeface="Courier New" pitchFamily="34" charset="-120"/>
              </a:rPr>
              <a:t>reactions[ ]</a:t>
            </a:r>
            <a:endParaRPr lang="en-US" sz="1400" dirty="0"/>
          </a:p>
          <a:p>
            <a:pPr indent="0" marL="0">
              <a:buNone/>
            </a:pPr>
            <a:r>
              <a:rPr lang="en-US" sz="1400" dirty="0">
                <a:solidFill>
                  <a:schemeClr val="tx2"/>
                </a:solidFill>
                <a:latin typeface="Courier New" pitchFamily="34" charset="0"/>
                <a:ea typeface="Courier New" pitchFamily="34" charset="-122"/>
                <a:cs typeface="Courier New" pitchFamily="34" charset="-120"/>
              </a:rPr>
              <a:t>createdAt</a:t>
            </a:r>
            <a:endParaRPr lang="en-US" sz="1400" dirty="0"/>
          </a:p>
        </p:txBody>
      </p:sp>
      <p:sp>
        <p:nvSpPr>
          <p:cNvPr id="9" name="Stat 1"/>
          <p:cNvSpPr/>
          <p:nvPr/>
        </p:nvSpPr>
        <p:spPr>
          <a:xfrm>
            <a:off x="548640" y="4023360"/>
            <a:ext cx="2468880" cy="457200"/>
          </a:xfrm>
          <a:prstGeom prst="roundRect">
            <a:avLst>
              <a:gd name="adj" fmla="val 50000"/>
            </a:avLst>
          </a:prstGeom>
          <a:solidFill>
            <a:schemeClr val="accent4"/>
          </a:solidFill>
          <a:ln w="19050">
            <a:solidFill>
              <a:schemeClr val="tx1"/>
            </a:solidFill>
            <a:prstDash val="solid"/>
          </a:ln>
          <a:effectLst>
            <a:outerShdw sx="100000" sy="100000" kx="0" ky="0" algn="bl" rotWithShape="0" blurRad="101600" dist="38100" dir="2700000">
              <a:srgbClr val="3E2F5B">
                <a:alpha val="100000"/>
              </a:srgbClr>
            </a:outerShdw>
          </a:effectLst>
        </p:spPr>
      </p:sp>
      <p:sp>
        <p:nvSpPr>
          <p:cNvPr id="10" name="Stat 1 text"/>
          <p:cNvSpPr txBox="1"/>
          <p:nvPr/>
        </p:nvSpPr>
        <p:spPr>
          <a:xfrm>
            <a:off x="548640" y="4023360"/>
            <a:ext cx="2468880" cy="457200"/>
          </a:xfrm>
          <a:prstGeom prst="rect">
            <a:avLst/>
          </a:prstGeom>
          <a:noFill/>
          <a:ln/>
        </p:spPr>
        <p:txBody>
          <a:bodyPr wrap="square" lIns="0" tIns="0" rIns="0" bIns="0" rtlCol="0" anchor="ctr"/>
          <a:lstStyle/>
          <a:p>
            <a:pPr algn="ctr" indent="0" marL="0">
              <a:buNone/>
            </a:pPr>
            <a:r>
              <a:rPr lang="en-US" sz="1400" b="1" dirty="0">
                <a:solidFill>
                  <a:schemeClr val="tx1"/>
                </a:solidFill>
              </a:rPr>
              <a:t>1,200+ seeded memories</a:t>
            </a:r>
            <a:endParaRPr lang="en-US" sz="1400" dirty="0"/>
          </a:p>
        </p:txBody>
      </p:sp>
      <p:sp>
        <p:nvSpPr>
          <p:cNvPr id="11" name="Stat 2"/>
          <p:cNvSpPr/>
          <p:nvPr/>
        </p:nvSpPr>
        <p:spPr>
          <a:xfrm>
            <a:off x="3337560" y="4023360"/>
            <a:ext cx="2468880" cy="457200"/>
          </a:xfrm>
          <a:prstGeom prst="roundRect">
            <a:avLst>
              <a:gd name="adj" fmla="val 50000"/>
            </a:avLst>
          </a:prstGeom>
          <a:solidFill>
            <a:schemeClr val="accent3"/>
          </a:solidFill>
          <a:ln w="19050">
            <a:solidFill>
              <a:schemeClr val="tx1"/>
            </a:solidFill>
            <a:prstDash val="solid"/>
          </a:ln>
          <a:effectLst>
            <a:outerShdw sx="100000" sy="100000" kx="0" ky="0" algn="bl" rotWithShape="0" blurRad="101600" dist="38100" dir="2700000">
              <a:srgbClr val="3E2F5B">
                <a:alpha val="100000"/>
              </a:srgbClr>
            </a:outerShdw>
          </a:effectLst>
        </p:spPr>
      </p:sp>
      <p:sp>
        <p:nvSpPr>
          <p:cNvPr id="12" name="Stat 2 text"/>
          <p:cNvSpPr txBox="1"/>
          <p:nvPr/>
        </p:nvSpPr>
        <p:spPr>
          <a:xfrm>
            <a:off x="3337560" y="4023360"/>
            <a:ext cx="2468880" cy="457200"/>
          </a:xfrm>
          <a:prstGeom prst="rect">
            <a:avLst/>
          </a:prstGeom>
          <a:noFill/>
          <a:ln/>
        </p:spPr>
        <p:txBody>
          <a:bodyPr wrap="square" lIns="0" tIns="0" rIns="0" bIns="0" rtlCol="0" anchor="ctr"/>
          <a:lstStyle/>
          <a:p>
            <a:pPr algn="ctr" indent="0" marL="0">
              <a:buNone/>
            </a:pPr>
            <a:r>
              <a:rPr lang="en-US" sz="1400" b="1" dirty="0">
                <a:solidFill>
                  <a:schemeClr val="tx1"/>
                </a:solidFill>
              </a:rPr>
              <a:t>Aggregation: letter stats</a:t>
            </a:r>
            <a:endParaRPr lang="en-US" sz="1400" dirty="0"/>
          </a:p>
        </p:txBody>
      </p:sp>
      <p:sp>
        <p:nvSpPr>
          <p:cNvPr id="13" name="Stat 3"/>
          <p:cNvSpPr/>
          <p:nvPr/>
        </p:nvSpPr>
        <p:spPr>
          <a:xfrm>
            <a:off x="6126480" y="4023360"/>
            <a:ext cx="2468880" cy="457200"/>
          </a:xfrm>
          <a:prstGeom prst="roundRect">
            <a:avLst>
              <a:gd name="adj" fmla="val 50000"/>
            </a:avLst>
          </a:prstGeom>
          <a:solidFill>
            <a:schemeClr val="accent2"/>
          </a:solidFill>
          <a:ln w="19050">
            <a:solidFill>
              <a:schemeClr val="tx1"/>
            </a:solidFill>
            <a:prstDash val="solid"/>
          </a:ln>
          <a:effectLst>
            <a:outerShdw sx="100000" sy="100000" kx="0" ky="0" algn="bl" rotWithShape="0" blurRad="101600" dist="38100" dir="2700000">
              <a:srgbClr val="3E2F5B">
                <a:alpha val="100000"/>
              </a:srgbClr>
            </a:outerShdw>
          </a:effectLst>
        </p:spPr>
      </p:sp>
      <p:sp>
        <p:nvSpPr>
          <p:cNvPr id="14" name="Stat 3 text"/>
          <p:cNvSpPr txBox="1"/>
          <p:nvPr/>
        </p:nvSpPr>
        <p:spPr>
          <a:xfrm>
            <a:off x="6126480" y="4023360"/>
            <a:ext cx="2468880" cy="457200"/>
          </a:xfrm>
          <a:prstGeom prst="rect">
            <a:avLst/>
          </a:prstGeom>
          <a:noFill/>
          <a:ln/>
        </p:spPr>
        <p:txBody>
          <a:bodyPr wrap="square" lIns="0" tIns="0" rIns="0" bIns="0" rtlCol="0" anchor="ctr"/>
          <a:lstStyle/>
          <a:p>
            <a:pPr algn="ctr" indent="0" marL="0">
              <a:buNone/>
            </a:pPr>
            <a:r>
              <a:rPr lang="en-US" sz="1400" b="1" dirty="0">
                <a:solidFill>
                  <a:schemeClr val="tx1"/>
                </a:solidFill>
              </a:rPr>
              <a:t>Aggregation: wall summary</a:t>
            </a:r>
            <a:endParaRPr lang="en-US" sz="14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latin typeface="Calibri" pitchFamily="34" charset="0"/>
                <a:ea typeface="Calibri" pitchFamily="34" charset="-122"/>
                <a:cs typeface="Calibri" pitchFamily="34" charset="-120"/>
              </a:rPr>
              <a:t>Clean, modular code</a:t>
            </a:r>
            <a:endParaRPr lang="en-US" sz="3400" dirty="0"/>
          </a:p>
        </p:txBody>
      </p:sp>
      <p:sp>
        <p:nvSpPr>
          <p:cNvPr id="3" name="ES modules, no require card"/>
          <p:cNvSpPr/>
          <p:nvPr/>
        </p:nvSpPr>
        <p:spPr>
          <a:xfrm>
            <a:off x="548640" y="1371600"/>
            <a:ext cx="2514600" cy="1325880"/>
          </a:xfrm>
          <a:prstGeom prst="roundRect">
            <a:avLst>
              <a:gd name="adj" fmla="val 12414"/>
            </a:avLst>
          </a:prstGeom>
          <a:solidFill>
            <a:schemeClr val="accent5"/>
          </a:solidFill>
          <a:ln w="22225">
            <a:solidFill>
              <a:schemeClr val="tx1"/>
            </a:solidFill>
            <a:prstDash val="solid"/>
          </a:ln>
          <a:effectLst>
            <a:outerShdw sx="100000" sy="100000" kx="0" ky="0" algn="bl" rotWithShape="0" blurRad="101600" dist="38100" dir="2700000">
              <a:srgbClr val="3E2F5B">
                <a:alpha val="100000"/>
              </a:srgbClr>
            </a:outerShdw>
          </a:effectLst>
        </p:spPr>
      </p:sp>
      <p:sp>
        <p:nvSpPr>
          <p:cNvPr id="4" name="ES modules, no require icon circle"/>
          <p:cNvSpPr/>
          <p:nvPr/>
        </p:nvSpPr>
        <p:spPr>
          <a:xfrm>
            <a:off x="731520" y="1719072"/>
            <a:ext cx="594360" cy="594360"/>
          </a:xfrm>
          <a:prstGeom prst="ellipse">
            <a:avLst/>
          </a:prstGeom>
          <a:solidFill>
            <a:schemeClr val="bg1"/>
          </a:solidFill>
          <a:ln w="19050">
            <a:solidFill>
              <a:schemeClr val="tx1"/>
            </a:solidFill>
            <a:prstDash val="solid"/>
          </a:ln>
          <a:effectLst>
            <a:outerShdw sx="100000" sy="100000" kx="0" ky="0" algn="bl" rotWithShape="0" blurRad="101600" dist="38100" dir="2700000">
              <a:srgbClr val="3E2F5B">
                <a:alpha val="100000"/>
              </a:srgbClr>
            </a:outerShdw>
          </a:effectLst>
        </p:spPr>
      </p:sp>
      <p:pic>
        <p:nvPicPr>
          <p:cNvPr id="5" name="ES modules, no require icon" descr="ES modules, no require icon">    </p:cNvPr>
          <p:cNvPicPr>
            <a:picLocks noChangeAspect="1"/>
          </p:cNvPicPr>
          <p:nvPr/>
        </p:nvPicPr>
        <p:blipFill>
          <a:blip r:embed="rId1"/>
          <a:stretch>
            <a:fillRect/>
          </a:stretch>
        </p:blipFill>
        <p:spPr>
          <a:xfrm>
            <a:off x="880110" y="1867662"/>
            <a:ext cx="297180" cy="297180"/>
          </a:xfrm>
          <a:prstGeom prst="rect">
            <a:avLst/>
          </a:prstGeom>
        </p:spPr>
      </p:pic>
      <p:sp>
        <p:nvSpPr>
          <p:cNvPr id="6" name="ES modules, no require text"/>
          <p:cNvSpPr txBox="1"/>
          <p:nvPr/>
        </p:nvSpPr>
        <p:spPr>
          <a:xfrm>
            <a:off x="1463040" y="1554480"/>
            <a:ext cx="1463040" cy="960120"/>
          </a:xfrm>
          <a:prstGeom prst="rect">
            <a:avLst/>
          </a:prstGeom>
          <a:noFill/>
          <a:ln/>
        </p:spPr>
        <p:txBody>
          <a:bodyPr wrap="square" lIns="0" tIns="0" rIns="0" bIns="0" rtlCol="0" anchor="ctr"/>
          <a:lstStyle/>
          <a:p>
            <a:pPr indent="0" marL="0">
              <a:buNone/>
            </a:pPr>
            <a:r>
              <a:rPr lang="en-US" sz="1400" b="1" dirty="0">
                <a:solidFill>
                  <a:schemeClr val="tx1"/>
                </a:solidFill>
              </a:rPr>
              <a:t>ES modules, no require</a:t>
            </a:r>
            <a:endParaRPr lang="en-US" sz="1400" dirty="0"/>
          </a:p>
        </p:txBody>
      </p:sp>
      <p:sp>
        <p:nvSpPr>
          <p:cNvPr id="7" name="ESLint, no errors card"/>
          <p:cNvSpPr/>
          <p:nvPr/>
        </p:nvSpPr>
        <p:spPr>
          <a:xfrm>
            <a:off x="3337560" y="1371600"/>
            <a:ext cx="2514600" cy="1325880"/>
          </a:xfrm>
          <a:prstGeom prst="roundRect">
            <a:avLst>
              <a:gd name="adj" fmla="val 12414"/>
            </a:avLst>
          </a:prstGeom>
          <a:solidFill>
            <a:schemeClr val="accent2"/>
          </a:solidFill>
          <a:ln w="22225">
            <a:solidFill>
              <a:schemeClr val="tx1"/>
            </a:solidFill>
            <a:prstDash val="solid"/>
          </a:ln>
          <a:effectLst>
            <a:outerShdw sx="100000" sy="100000" kx="0" ky="0" algn="bl" rotWithShape="0" blurRad="101600" dist="38100" dir="2700000">
              <a:srgbClr val="3E2F5B">
                <a:alpha val="100000"/>
              </a:srgbClr>
            </a:outerShdw>
          </a:effectLst>
        </p:spPr>
      </p:sp>
      <p:sp>
        <p:nvSpPr>
          <p:cNvPr id="8" name="ESLint, no errors icon circle"/>
          <p:cNvSpPr/>
          <p:nvPr/>
        </p:nvSpPr>
        <p:spPr>
          <a:xfrm>
            <a:off x="3520440" y="1719072"/>
            <a:ext cx="594360" cy="594360"/>
          </a:xfrm>
          <a:prstGeom prst="ellipse">
            <a:avLst/>
          </a:prstGeom>
          <a:solidFill>
            <a:schemeClr val="bg1"/>
          </a:solidFill>
          <a:ln w="19050">
            <a:solidFill>
              <a:schemeClr val="tx1"/>
            </a:solidFill>
            <a:prstDash val="solid"/>
          </a:ln>
          <a:effectLst>
            <a:outerShdw sx="100000" sy="100000" kx="0" ky="0" algn="bl" rotWithShape="0" blurRad="101600" dist="38100" dir="2700000">
              <a:srgbClr val="3E2F5B">
                <a:alpha val="100000"/>
              </a:srgbClr>
            </a:outerShdw>
          </a:effectLst>
        </p:spPr>
      </p:sp>
      <p:pic>
        <p:nvPicPr>
          <p:cNvPr id="9" name="ESLint, no errors icon" descr="ESLint, no errors icon">    </p:cNvPr>
          <p:cNvPicPr>
            <a:picLocks noChangeAspect="1"/>
          </p:cNvPicPr>
          <p:nvPr/>
        </p:nvPicPr>
        <p:blipFill>
          <a:blip r:embed="rId2"/>
          <a:stretch>
            <a:fillRect/>
          </a:stretch>
        </p:blipFill>
        <p:spPr>
          <a:xfrm>
            <a:off x="3669030" y="1867662"/>
            <a:ext cx="297180" cy="297180"/>
          </a:xfrm>
          <a:prstGeom prst="rect">
            <a:avLst/>
          </a:prstGeom>
        </p:spPr>
      </p:pic>
      <p:sp>
        <p:nvSpPr>
          <p:cNvPr id="10" name="ESLint, no errors text"/>
          <p:cNvSpPr txBox="1"/>
          <p:nvPr/>
        </p:nvSpPr>
        <p:spPr>
          <a:xfrm>
            <a:off x="4251960" y="1554480"/>
            <a:ext cx="1463040" cy="960120"/>
          </a:xfrm>
          <a:prstGeom prst="rect">
            <a:avLst/>
          </a:prstGeom>
          <a:noFill/>
          <a:ln/>
        </p:spPr>
        <p:txBody>
          <a:bodyPr wrap="square" lIns="0" tIns="0" rIns="0" bIns="0" rtlCol="0" anchor="ctr"/>
          <a:lstStyle/>
          <a:p>
            <a:pPr indent="0" marL="0">
              <a:buNone/>
            </a:pPr>
            <a:r>
              <a:rPr lang="en-US" sz="1400" b="1" dirty="0">
                <a:solidFill>
                  <a:schemeClr val="tx1"/>
                </a:solidFill>
              </a:rPr>
              <a:t>ESLint, no errors</a:t>
            </a:r>
            <a:endParaRPr lang="en-US" sz="1400" dirty="0"/>
          </a:p>
        </p:txBody>
      </p:sp>
      <p:sp>
        <p:nvSpPr>
          <p:cNvPr id="11" name="Formatted with Prettier card"/>
          <p:cNvSpPr/>
          <p:nvPr/>
        </p:nvSpPr>
        <p:spPr>
          <a:xfrm>
            <a:off x="6126480" y="1371600"/>
            <a:ext cx="2514600" cy="1325880"/>
          </a:xfrm>
          <a:prstGeom prst="roundRect">
            <a:avLst>
              <a:gd name="adj" fmla="val 12414"/>
            </a:avLst>
          </a:prstGeom>
          <a:solidFill>
            <a:schemeClr val="accent1"/>
          </a:solidFill>
          <a:ln w="22225">
            <a:solidFill>
              <a:schemeClr val="tx1"/>
            </a:solidFill>
            <a:prstDash val="solid"/>
          </a:ln>
          <a:effectLst>
            <a:outerShdw sx="100000" sy="100000" kx="0" ky="0" algn="bl" rotWithShape="0" blurRad="101600" dist="38100" dir="2700000">
              <a:srgbClr val="3E2F5B">
                <a:alpha val="100000"/>
              </a:srgbClr>
            </a:outerShdw>
          </a:effectLst>
        </p:spPr>
      </p:sp>
      <p:sp>
        <p:nvSpPr>
          <p:cNvPr id="12" name="Formatted with Prettier icon circle"/>
          <p:cNvSpPr/>
          <p:nvPr/>
        </p:nvSpPr>
        <p:spPr>
          <a:xfrm>
            <a:off x="6309360" y="1719072"/>
            <a:ext cx="594360" cy="594360"/>
          </a:xfrm>
          <a:prstGeom prst="ellipse">
            <a:avLst/>
          </a:prstGeom>
          <a:solidFill>
            <a:schemeClr val="bg1"/>
          </a:solidFill>
          <a:ln w="19050">
            <a:solidFill>
              <a:schemeClr val="tx1"/>
            </a:solidFill>
            <a:prstDash val="solid"/>
          </a:ln>
          <a:effectLst>
            <a:outerShdw sx="100000" sy="100000" kx="0" ky="0" algn="bl" rotWithShape="0" blurRad="101600" dist="38100" dir="2700000">
              <a:srgbClr val="3E2F5B">
                <a:alpha val="100000"/>
              </a:srgbClr>
            </a:outerShdw>
          </a:effectLst>
        </p:spPr>
      </p:sp>
      <p:pic>
        <p:nvPicPr>
          <p:cNvPr id="13" name="Formatted with Prettier icon" descr="Formatted with Prettier icon">    </p:cNvPr>
          <p:cNvPicPr>
            <a:picLocks noChangeAspect="1"/>
          </p:cNvPicPr>
          <p:nvPr/>
        </p:nvPicPr>
        <p:blipFill>
          <a:blip r:embed="rId3"/>
          <a:stretch>
            <a:fillRect/>
          </a:stretch>
        </p:blipFill>
        <p:spPr>
          <a:xfrm>
            <a:off x="6457950" y="1867662"/>
            <a:ext cx="297180" cy="297180"/>
          </a:xfrm>
          <a:prstGeom prst="rect">
            <a:avLst/>
          </a:prstGeom>
        </p:spPr>
      </p:pic>
      <p:sp>
        <p:nvSpPr>
          <p:cNvPr id="14" name="Formatted with Prettier text"/>
          <p:cNvSpPr txBox="1"/>
          <p:nvPr/>
        </p:nvSpPr>
        <p:spPr>
          <a:xfrm>
            <a:off x="7040880" y="1554480"/>
            <a:ext cx="1463040" cy="960120"/>
          </a:xfrm>
          <a:prstGeom prst="rect">
            <a:avLst/>
          </a:prstGeom>
          <a:noFill/>
          <a:ln/>
        </p:spPr>
        <p:txBody>
          <a:bodyPr wrap="square" lIns="0" tIns="0" rIns="0" bIns="0" rtlCol="0" anchor="ctr"/>
          <a:lstStyle/>
          <a:p>
            <a:pPr indent="0" marL="0">
              <a:buNone/>
            </a:pPr>
            <a:r>
              <a:rPr lang="en-US" sz="1400" b="1" dirty="0">
                <a:solidFill>
                  <a:schemeClr val="tx1"/>
                </a:solidFill>
              </a:rPr>
              <a:t>Formatted with Prettier</a:t>
            </a:r>
            <a:endParaRPr lang="en-US" sz="1400" dirty="0"/>
          </a:p>
        </p:txBody>
      </p:sp>
      <p:sp>
        <p:nvSpPr>
          <p:cNvPr id="15" name="Express + native driver card"/>
          <p:cNvSpPr/>
          <p:nvPr/>
        </p:nvSpPr>
        <p:spPr>
          <a:xfrm>
            <a:off x="548640" y="2971800"/>
            <a:ext cx="2514600" cy="1325880"/>
          </a:xfrm>
          <a:prstGeom prst="roundRect">
            <a:avLst>
              <a:gd name="adj" fmla="val 12414"/>
            </a:avLst>
          </a:prstGeom>
          <a:solidFill>
            <a:schemeClr val="accent3"/>
          </a:solidFill>
          <a:ln w="22225">
            <a:solidFill>
              <a:schemeClr val="tx1"/>
            </a:solidFill>
            <a:prstDash val="solid"/>
          </a:ln>
          <a:effectLst>
            <a:outerShdw sx="100000" sy="100000" kx="0" ky="0" algn="bl" rotWithShape="0" blurRad="101600" dist="38100" dir="2700000">
              <a:srgbClr val="3E2F5B">
                <a:alpha val="100000"/>
              </a:srgbClr>
            </a:outerShdw>
          </a:effectLst>
        </p:spPr>
      </p:sp>
      <p:sp>
        <p:nvSpPr>
          <p:cNvPr id="16" name="Express + native driver icon circle"/>
          <p:cNvSpPr/>
          <p:nvPr/>
        </p:nvSpPr>
        <p:spPr>
          <a:xfrm>
            <a:off x="731520" y="3319272"/>
            <a:ext cx="594360" cy="594360"/>
          </a:xfrm>
          <a:prstGeom prst="ellipse">
            <a:avLst/>
          </a:prstGeom>
          <a:solidFill>
            <a:schemeClr val="bg1"/>
          </a:solidFill>
          <a:ln w="19050">
            <a:solidFill>
              <a:schemeClr val="tx1"/>
            </a:solidFill>
            <a:prstDash val="solid"/>
          </a:ln>
          <a:effectLst>
            <a:outerShdw sx="100000" sy="100000" kx="0" ky="0" algn="bl" rotWithShape="0" blurRad="101600" dist="38100" dir="2700000">
              <a:srgbClr val="3E2F5B">
                <a:alpha val="100000"/>
              </a:srgbClr>
            </a:outerShdw>
          </a:effectLst>
        </p:spPr>
      </p:sp>
      <p:pic>
        <p:nvPicPr>
          <p:cNvPr id="17" name="Express + native driver icon" descr="Express + native driver icon">    </p:cNvPr>
          <p:cNvPicPr>
            <a:picLocks noChangeAspect="1"/>
          </p:cNvPicPr>
          <p:nvPr/>
        </p:nvPicPr>
        <p:blipFill>
          <a:blip r:embed="rId4"/>
          <a:stretch>
            <a:fillRect/>
          </a:stretch>
        </p:blipFill>
        <p:spPr>
          <a:xfrm>
            <a:off x="880110" y="3467862"/>
            <a:ext cx="297180" cy="297180"/>
          </a:xfrm>
          <a:prstGeom prst="rect">
            <a:avLst/>
          </a:prstGeom>
        </p:spPr>
      </p:pic>
      <p:sp>
        <p:nvSpPr>
          <p:cNvPr id="18" name="Express + native driver text"/>
          <p:cNvSpPr txBox="1"/>
          <p:nvPr/>
        </p:nvSpPr>
        <p:spPr>
          <a:xfrm>
            <a:off x="1463040" y="3154680"/>
            <a:ext cx="1463040" cy="960120"/>
          </a:xfrm>
          <a:prstGeom prst="rect">
            <a:avLst/>
          </a:prstGeom>
          <a:noFill/>
          <a:ln/>
        </p:spPr>
        <p:txBody>
          <a:bodyPr wrap="square" lIns="0" tIns="0" rIns="0" bIns="0" rtlCol="0" anchor="ctr"/>
          <a:lstStyle/>
          <a:p>
            <a:pPr indent="0" marL="0">
              <a:buNone/>
            </a:pPr>
            <a:r>
              <a:rPr lang="en-US" sz="1400" b="1" dirty="0">
                <a:solidFill>
                  <a:schemeClr val="tx1"/>
                </a:solidFill>
              </a:rPr>
              <a:t>Express + native driver</a:t>
            </a:r>
            <a:endParaRPr lang="en-US" sz="1400" dirty="0"/>
          </a:p>
        </p:txBody>
      </p:sp>
      <p:sp>
        <p:nvSpPr>
          <p:cNvPr id="19" name="No Mongoose, no templates card"/>
          <p:cNvSpPr/>
          <p:nvPr/>
        </p:nvSpPr>
        <p:spPr>
          <a:xfrm>
            <a:off x="3337560" y="2971800"/>
            <a:ext cx="2514600" cy="1325880"/>
          </a:xfrm>
          <a:prstGeom prst="roundRect">
            <a:avLst>
              <a:gd name="adj" fmla="val 12414"/>
            </a:avLst>
          </a:prstGeom>
          <a:solidFill>
            <a:schemeClr val="accent4"/>
          </a:solidFill>
          <a:ln w="22225">
            <a:solidFill>
              <a:schemeClr val="tx1"/>
            </a:solidFill>
            <a:prstDash val="solid"/>
          </a:ln>
          <a:effectLst>
            <a:outerShdw sx="100000" sy="100000" kx="0" ky="0" algn="bl" rotWithShape="0" blurRad="101600" dist="38100" dir="2700000">
              <a:srgbClr val="3E2F5B">
                <a:alpha val="100000"/>
              </a:srgbClr>
            </a:outerShdw>
          </a:effectLst>
        </p:spPr>
      </p:sp>
      <p:sp>
        <p:nvSpPr>
          <p:cNvPr id="20" name="No Mongoose, no templates icon circle"/>
          <p:cNvSpPr/>
          <p:nvPr/>
        </p:nvSpPr>
        <p:spPr>
          <a:xfrm>
            <a:off x="3520440" y="3319272"/>
            <a:ext cx="594360" cy="594360"/>
          </a:xfrm>
          <a:prstGeom prst="ellipse">
            <a:avLst/>
          </a:prstGeom>
          <a:solidFill>
            <a:schemeClr val="bg1"/>
          </a:solidFill>
          <a:ln w="19050">
            <a:solidFill>
              <a:schemeClr val="tx1"/>
            </a:solidFill>
            <a:prstDash val="solid"/>
          </a:ln>
          <a:effectLst>
            <a:outerShdw sx="100000" sy="100000" kx="0" ky="0" algn="bl" rotWithShape="0" blurRad="101600" dist="38100" dir="2700000">
              <a:srgbClr val="3E2F5B">
                <a:alpha val="100000"/>
              </a:srgbClr>
            </a:outerShdw>
          </a:effectLst>
        </p:spPr>
      </p:sp>
      <p:pic>
        <p:nvPicPr>
          <p:cNvPr id="21" name="No Mongoose, no templates icon" descr="No Mongoose, no templates icon">    </p:cNvPr>
          <p:cNvPicPr>
            <a:picLocks noChangeAspect="1"/>
          </p:cNvPicPr>
          <p:nvPr/>
        </p:nvPicPr>
        <p:blipFill>
          <a:blip r:embed="rId5"/>
          <a:stretch>
            <a:fillRect/>
          </a:stretch>
        </p:blipFill>
        <p:spPr>
          <a:xfrm>
            <a:off x="3669030" y="3467862"/>
            <a:ext cx="297180" cy="297180"/>
          </a:xfrm>
          <a:prstGeom prst="rect">
            <a:avLst/>
          </a:prstGeom>
        </p:spPr>
      </p:pic>
      <p:sp>
        <p:nvSpPr>
          <p:cNvPr id="22" name="No Mongoose, no templates text"/>
          <p:cNvSpPr txBox="1"/>
          <p:nvPr/>
        </p:nvSpPr>
        <p:spPr>
          <a:xfrm>
            <a:off x="4251960" y="3154680"/>
            <a:ext cx="1463040" cy="960120"/>
          </a:xfrm>
          <a:prstGeom prst="rect">
            <a:avLst/>
          </a:prstGeom>
          <a:noFill/>
          <a:ln/>
        </p:spPr>
        <p:txBody>
          <a:bodyPr wrap="square" lIns="0" tIns="0" rIns="0" bIns="0" rtlCol="0" anchor="ctr"/>
          <a:lstStyle/>
          <a:p>
            <a:pPr indent="0" marL="0">
              <a:buNone/>
            </a:pPr>
            <a:r>
              <a:rPr lang="en-US" sz="1400" b="1" dirty="0">
                <a:solidFill>
                  <a:schemeClr val="tx1"/>
                </a:solidFill>
              </a:rPr>
              <a:t>No Mongoose, no templates</a:t>
            </a:r>
            <a:endParaRPr lang="en-US" sz="1400" dirty="0"/>
          </a:p>
        </p:txBody>
      </p:sp>
      <p:sp>
        <p:nvSpPr>
          <p:cNvPr id="23" name="CSS split by module card"/>
          <p:cNvSpPr/>
          <p:nvPr/>
        </p:nvSpPr>
        <p:spPr>
          <a:xfrm>
            <a:off x="6126480" y="2971800"/>
            <a:ext cx="2514600" cy="1325880"/>
          </a:xfrm>
          <a:prstGeom prst="roundRect">
            <a:avLst>
              <a:gd name="adj" fmla="val 12414"/>
            </a:avLst>
          </a:prstGeom>
          <a:solidFill>
            <a:schemeClr val="accent5"/>
          </a:solidFill>
          <a:ln w="22225">
            <a:solidFill>
              <a:schemeClr val="tx1"/>
            </a:solidFill>
            <a:prstDash val="solid"/>
          </a:ln>
          <a:effectLst>
            <a:outerShdw sx="100000" sy="100000" kx="0" ky="0" algn="bl" rotWithShape="0" blurRad="101600" dist="38100" dir="2700000">
              <a:srgbClr val="3E2F5B">
                <a:alpha val="100000"/>
              </a:srgbClr>
            </a:outerShdw>
          </a:effectLst>
        </p:spPr>
      </p:sp>
      <p:sp>
        <p:nvSpPr>
          <p:cNvPr id="24" name="CSS split by module icon circle"/>
          <p:cNvSpPr/>
          <p:nvPr/>
        </p:nvSpPr>
        <p:spPr>
          <a:xfrm>
            <a:off x="6309360" y="3319272"/>
            <a:ext cx="594360" cy="594360"/>
          </a:xfrm>
          <a:prstGeom prst="ellipse">
            <a:avLst/>
          </a:prstGeom>
          <a:solidFill>
            <a:schemeClr val="bg1"/>
          </a:solidFill>
          <a:ln w="19050">
            <a:solidFill>
              <a:schemeClr val="tx1"/>
            </a:solidFill>
            <a:prstDash val="solid"/>
          </a:ln>
          <a:effectLst>
            <a:outerShdw sx="100000" sy="100000" kx="0" ky="0" algn="bl" rotWithShape="0" blurRad="101600" dist="38100" dir="2700000">
              <a:srgbClr val="3E2F5B">
                <a:alpha val="100000"/>
              </a:srgbClr>
            </a:outerShdw>
          </a:effectLst>
        </p:spPr>
      </p:sp>
      <p:pic>
        <p:nvPicPr>
          <p:cNvPr id="25" name="CSS split by module icon" descr="CSS split by module icon">    </p:cNvPr>
          <p:cNvPicPr>
            <a:picLocks noChangeAspect="1"/>
          </p:cNvPicPr>
          <p:nvPr/>
        </p:nvPicPr>
        <p:blipFill>
          <a:blip r:embed="rId6"/>
          <a:stretch>
            <a:fillRect/>
          </a:stretch>
        </p:blipFill>
        <p:spPr>
          <a:xfrm>
            <a:off x="6457950" y="3467862"/>
            <a:ext cx="297180" cy="297180"/>
          </a:xfrm>
          <a:prstGeom prst="rect">
            <a:avLst/>
          </a:prstGeom>
        </p:spPr>
      </p:pic>
      <p:sp>
        <p:nvSpPr>
          <p:cNvPr id="26" name="CSS split by module text"/>
          <p:cNvSpPr txBox="1"/>
          <p:nvPr/>
        </p:nvSpPr>
        <p:spPr>
          <a:xfrm>
            <a:off x="7040880" y="3154680"/>
            <a:ext cx="1463040" cy="960120"/>
          </a:xfrm>
          <a:prstGeom prst="rect">
            <a:avLst/>
          </a:prstGeom>
          <a:noFill/>
          <a:ln/>
        </p:spPr>
        <p:txBody>
          <a:bodyPr wrap="square" lIns="0" tIns="0" rIns="0" bIns="0" rtlCol="0" anchor="ctr"/>
          <a:lstStyle/>
          <a:p>
            <a:pPr indent="0" marL="0">
              <a:buNone/>
            </a:pPr>
            <a:r>
              <a:rPr lang="en-US" sz="1400" b="1" dirty="0">
                <a:solidFill>
                  <a:schemeClr val="tx1"/>
                </a:solidFill>
              </a:rPr>
              <a:t>CSS split by module</a:t>
            </a:r>
            <a:endParaRPr lang="en-US" sz="14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latin typeface="Calibri" pitchFamily="34" charset="0"/>
                <a:ea typeface="Calibri" pitchFamily="34" charset="-122"/>
                <a:cs typeface="Calibri" pitchFamily="34" charset="-120"/>
              </a:rPr>
              <a:t>Live demo</a:t>
            </a:r>
            <a:endParaRPr lang="en-US" sz="3400" dirty="0"/>
          </a:p>
        </p:txBody>
      </p:sp>
      <p:sp>
        <p:nvSpPr>
          <p:cNvPr id="3" name="Step 1 circle"/>
          <p:cNvSpPr/>
          <p:nvPr/>
        </p:nvSpPr>
        <p:spPr>
          <a:xfrm>
            <a:off x="548640" y="1325880"/>
            <a:ext cx="548640" cy="548640"/>
          </a:xfrm>
          <a:prstGeom prst="ellipse">
            <a:avLst/>
          </a:prstGeom>
          <a:solidFill>
            <a:schemeClr val="accent1"/>
          </a:solidFill>
          <a:ln w="19050">
            <a:solidFill>
              <a:schemeClr val="tx1"/>
            </a:solidFill>
            <a:prstDash val="solid"/>
          </a:ln>
          <a:effectLst>
            <a:outerShdw sx="100000" sy="100000" kx="0" ky="0" algn="bl" rotWithShape="0" blurRad="101600" dist="38100" dir="2700000">
              <a:srgbClr val="3E2F5B">
                <a:alpha val="100000"/>
              </a:srgbClr>
            </a:outerShdw>
          </a:effectLst>
        </p:spPr>
      </p:sp>
      <p:sp>
        <p:nvSpPr>
          <p:cNvPr id="4" name="Step 1 number"/>
          <p:cNvSpPr txBox="1"/>
          <p:nvPr/>
        </p:nvSpPr>
        <p:spPr>
          <a:xfrm>
            <a:off x="548640" y="132588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5" name="Step 1 text"/>
          <p:cNvSpPr txBox="1"/>
          <p:nvPr/>
        </p:nvSpPr>
        <p:spPr>
          <a:xfrm>
            <a:off x="1371600" y="1325880"/>
            <a:ext cx="4023360" cy="548640"/>
          </a:xfrm>
          <a:prstGeom prst="rect">
            <a:avLst/>
          </a:prstGeom>
          <a:noFill/>
          <a:ln/>
        </p:spPr>
        <p:txBody>
          <a:bodyPr wrap="square" lIns="0" tIns="0" rIns="0" bIns="0" rtlCol="0" anchor="ctr"/>
          <a:lstStyle/>
          <a:p>
            <a:pPr indent="0" marL="0">
              <a:buNone/>
            </a:pPr>
            <a:r>
              <a:rPr lang="en-US" sz="1800" dirty="0">
                <a:solidFill>
                  <a:schemeClr val="tx1"/>
                </a:solidFill>
              </a:rPr>
              <a:t>Seal a letter for the future</a:t>
            </a:r>
            <a:endParaRPr lang="en-US" sz="1800" dirty="0"/>
          </a:p>
        </p:txBody>
      </p:sp>
      <p:sp>
        <p:nvSpPr>
          <p:cNvPr id="6" name="Step 2 circle"/>
          <p:cNvSpPr/>
          <p:nvPr/>
        </p:nvSpPr>
        <p:spPr>
          <a:xfrm>
            <a:off x="548640" y="2103120"/>
            <a:ext cx="548640" cy="548640"/>
          </a:xfrm>
          <a:prstGeom prst="ellipse">
            <a:avLst/>
          </a:prstGeom>
          <a:solidFill>
            <a:schemeClr val="accent3"/>
          </a:solidFill>
          <a:ln w="19050">
            <a:solidFill>
              <a:schemeClr val="tx1"/>
            </a:solidFill>
            <a:prstDash val="solid"/>
          </a:ln>
          <a:effectLst>
            <a:outerShdw sx="100000" sy="100000" kx="0" ky="0" algn="bl" rotWithShape="0" blurRad="101600" dist="38100" dir="2700000">
              <a:srgbClr val="3E2F5B">
                <a:alpha val="100000"/>
              </a:srgbClr>
            </a:outerShdw>
          </a:effectLst>
        </p:spPr>
      </p:sp>
      <p:sp>
        <p:nvSpPr>
          <p:cNvPr id="7" name="Step 2 number"/>
          <p:cNvSpPr txBox="1"/>
          <p:nvPr/>
        </p:nvSpPr>
        <p:spPr>
          <a:xfrm>
            <a:off x="548640" y="210312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8" name="Step 2 text"/>
          <p:cNvSpPr txBox="1"/>
          <p:nvPr/>
        </p:nvSpPr>
        <p:spPr>
          <a:xfrm>
            <a:off x="1371600" y="2103120"/>
            <a:ext cx="4023360" cy="548640"/>
          </a:xfrm>
          <a:prstGeom prst="rect">
            <a:avLst/>
          </a:prstGeom>
          <a:noFill/>
          <a:ln/>
        </p:spPr>
        <p:txBody>
          <a:bodyPr wrap="square" lIns="0" tIns="0" rIns="0" bIns="0" rtlCol="0" anchor="ctr"/>
          <a:lstStyle/>
          <a:p>
            <a:pPr indent="0" marL="0">
              <a:buNone/>
            </a:pPr>
            <a:r>
              <a:rPr lang="en-US" sz="1800" dirty="0">
                <a:solidFill>
                  <a:schemeClr val="tx1"/>
                </a:solidFill>
              </a:rPr>
              <a:t>Try to open it early: blocked</a:t>
            </a:r>
            <a:endParaRPr lang="en-US" sz="1800" dirty="0"/>
          </a:p>
        </p:txBody>
      </p:sp>
      <p:sp>
        <p:nvSpPr>
          <p:cNvPr id="9" name="Step 3 circle"/>
          <p:cNvSpPr/>
          <p:nvPr/>
        </p:nvSpPr>
        <p:spPr>
          <a:xfrm>
            <a:off x="548640" y="2880360"/>
            <a:ext cx="548640" cy="548640"/>
          </a:xfrm>
          <a:prstGeom prst="ellipse">
            <a:avLst/>
          </a:prstGeom>
          <a:solidFill>
            <a:schemeClr val="accent2"/>
          </a:solidFill>
          <a:ln w="19050">
            <a:solidFill>
              <a:schemeClr val="tx1"/>
            </a:solidFill>
            <a:prstDash val="solid"/>
          </a:ln>
          <a:effectLst>
            <a:outerShdw sx="100000" sy="100000" kx="0" ky="0" algn="bl" rotWithShape="0" blurRad="101600" dist="38100" dir="2700000">
              <a:srgbClr val="3E2F5B">
                <a:alpha val="100000"/>
              </a:srgbClr>
            </a:outerShdw>
          </a:effectLst>
        </p:spPr>
      </p:sp>
      <p:sp>
        <p:nvSpPr>
          <p:cNvPr id="10" name="Step 3 number"/>
          <p:cNvSpPr txBox="1"/>
          <p:nvPr/>
        </p:nvSpPr>
        <p:spPr>
          <a:xfrm>
            <a:off x="548640" y="288036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11" name="Step 3 text"/>
          <p:cNvSpPr txBox="1"/>
          <p:nvPr/>
        </p:nvSpPr>
        <p:spPr>
          <a:xfrm>
            <a:off x="1371600" y="2880360"/>
            <a:ext cx="4023360" cy="548640"/>
          </a:xfrm>
          <a:prstGeom prst="rect">
            <a:avLst/>
          </a:prstGeom>
          <a:noFill/>
          <a:ln/>
        </p:spPr>
        <p:txBody>
          <a:bodyPr wrap="square" lIns="0" tIns="0" rIns="0" bIns="0" rtlCol="0" anchor="ctr"/>
          <a:lstStyle/>
          <a:p>
            <a:pPr indent="0" marL="0">
              <a:buNone/>
            </a:pPr>
            <a:r>
              <a:rPr lang="en-US" sz="1800" dirty="0">
                <a:solidFill>
                  <a:schemeClr val="tx1"/>
                </a:solidFill>
              </a:rPr>
              <a:t>Post a memory with mood and color</a:t>
            </a:r>
            <a:endParaRPr lang="en-US" sz="1800" dirty="0"/>
          </a:p>
        </p:txBody>
      </p:sp>
      <p:sp>
        <p:nvSpPr>
          <p:cNvPr id="12" name="Step 4 circle"/>
          <p:cNvSpPr/>
          <p:nvPr/>
        </p:nvSpPr>
        <p:spPr>
          <a:xfrm>
            <a:off x="548640" y="3657600"/>
            <a:ext cx="548640" cy="548640"/>
          </a:xfrm>
          <a:prstGeom prst="ellipse">
            <a:avLst/>
          </a:prstGeom>
          <a:solidFill>
            <a:schemeClr val="accent5"/>
          </a:solidFill>
          <a:ln w="19050">
            <a:solidFill>
              <a:schemeClr val="tx1"/>
            </a:solidFill>
            <a:prstDash val="solid"/>
          </a:ln>
          <a:effectLst>
            <a:outerShdw sx="100000" sy="100000" kx="0" ky="0" algn="bl" rotWithShape="0" blurRad="101600" dist="38100" dir="2700000">
              <a:srgbClr val="3E2F5B">
                <a:alpha val="100000"/>
              </a:srgbClr>
            </a:outerShdw>
          </a:effectLst>
        </p:spPr>
      </p:sp>
      <p:sp>
        <p:nvSpPr>
          <p:cNvPr id="13" name="Step 4 number"/>
          <p:cNvSpPr txBox="1"/>
          <p:nvPr/>
        </p:nvSpPr>
        <p:spPr>
          <a:xfrm>
            <a:off x="548640" y="365760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4</a:t>
            </a:r>
            <a:endParaRPr lang="en-US" sz="1800" dirty="0"/>
          </a:p>
        </p:txBody>
      </p:sp>
      <p:sp>
        <p:nvSpPr>
          <p:cNvPr id="14" name="Step 4 text"/>
          <p:cNvSpPr txBox="1"/>
          <p:nvPr/>
        </p:nvSpPr>
        <p:spPr>
          <a:xfrm>
            <a:off x="1371600" y="3657600"/>
            <a:ext cx="4023360" cy="548640"/>
          </a:xfrm>
          <a:prstGeom prst="rect">
            <a:avLst/>
          </a:prstGeom>
          <a:noFill/>
          <a:ln/>
        </p:spPr>
        <p:txBody>
          <a:bodyPr wrap="square" lIns="0" tIns="0" rIns="0" bIns="0" rtlCol="0" anchor="ctr"/>
          <a:lstStyle/>
          <a:p>
            <a:pPr indent="0" marL="0">
              <a:buNone/>
            </a:pPr>
            <a:r>
              <a:rPr lang="en-US" sz="1800" dirty="0">
                <a:solidFill>
                  <a:schemeClr val="tx1"/>
                </a:solidFill>
              </a:rPr>
              <a:t>Filter, react, and sort the wall</a:t>
            </a:r>
            <a:endParaRPr lang="en-US" sz="1800" dirty="0"/>
          </a:p>
        </p:txBody>
      </p:sp>
      <p:sp>
        <p:nvSpPr>
          <p:cNvPr id="15" name="Letters demo shot frame"/>
          <p:cNvSpPr/>
          <p:nvPr/>
        </p:nvSpPr>
        <p:spPr>
          <a:xfrm>
            <a:off x="5614416" y="1271016"/>
            <a:ext cx="3035808" cy="1847088"/>
          </a:xfrm>
          <a:prstGeom prst="roundRect">
            <a:avLst>
              <a:gd name="adj" fmla="val 5941"/>
            </a:avLst>
          </a:prstGeom>
          <a:solidFill>
            <a:schemeClr val="bg1"/>
          </a:solidFill>
          <a:ln w="22225">
            <a:solidFill>
              <a:schemeClr val="tx1"/>
            </a:solidFill>
            <a:prstDash val="solid"/>
          </a:ln>
          <a:effectLst>
            <a:outerShdw sx="100000" sy="100000" kx="0" ky="0" algn="bl" rotWithShape="0" blurRad="101600" dist="38100" dir="2700000">
              <a:srgbClr val="3E2F5B">
                <a:alpha val="100000"/>
              </a:srgbClr>
            </a:outerShdw>
          </a:effectLst>
        </p:spPr>
      </p:sp>
      <p:pic>
        <p:nvPicPr>
          <p:cNvPr id="16" name="Letters demo shot" descr="Letters page">    </p:cNvPr>
          <p:cNvPicPr>
            <a:picLocks noChangeAspect="1"/>
          </p:cNvPicPr>
          <p:nvPr/>
        </p:nvPicPr>
        <p:blipFill>
          <a:blip r:embed="rId1"/>
          <a:stretch>
            <a:fillRect/>
          </a:stretch>
        </p:blipFill>
        <p:spPr>
          <a:xfrm>
            <a:off x="5669280" y="1325880"/>
            <a:ext cx="2926080" cy="1737360"/>
          </a:xfrm>
          <a:prstGeom prst="rect">
            <a:avLst/>
          </a:prstGeom>
        </p:spPr>
      </p:pic>
      <p:sp>
        <p:nvSpPr>
          <p:cNvPr id="17" name="Wall demo shot frame"/>
          <p:cNvSpPr/>
          <p:nvPr/>
        </p:nvSpPr>
        <p:spPr>
          <a:xfrm>
            <a:off x="5614416" y="3191256"/>
            <a:ext cx="3035808" cy="1474013"/>
          </a:xfrm>
          <a:prstGeom prst="roundRect">
            <a:avLst>
              <a:gd name="adj" fmla="val 7444"/>
            </a:avLst>
          </a:prstGeom>
          <a:solidFill>
            <a:schemeClr val="bg1"/>
          </a:solidFill>
          <a:ln w="22225">
            <a:solidFill>
              <a:schemeClr val="tx1"/>
            </a:solidFill>
            <a:prstDash val="solid"/>
          </a:ln>
          <a:effectLst>
            <a:outerShdw sx="100000" sy="100000" kx="0" ky="0" algn="bl" rotWithShape="0" blurRad="101600" dist="38100" dir="2700000">
              <a:srgbClr val="3E2F5B">
                <a:alpha val="100000"/>
              </a:srgbClr>
            </a:outerShdw>
          </a:effectLst>
        </p:spPr>
      </p:sp>
      <p:pic>
        <p:nvPicPr>
          <p:cNvPr id="18" name="Wall demo shot" descr="Memory wall page">    </p:cNvPr>
          <p:cNvPicPr>
            <a:picLocks noChangeAspect="1"/>
          </p:cNvPicPr>
          <p:nvPr/>
        </p:nvPicPr>
        <p:blipFill>
          <a:blip r:embed="rId2"/>
          <a:stretch>
            <a:fillRect/>
          </a:stretch>
        </p:blipFill>
        <p:spPr>
          <a:xfrm>
            <a:off x="5669280" y="3246120"/>
            <a:ext cx="2926080" cy="1364285"/>
          </a:xfrm>
          <a:prstGeom prst="rect">
            <a:avLst/>
          </a:prstGeom>
        </p:spPr>
      </p:pic>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822960"/>
          </a:xfrm>
          <a:prstGeom prst="rect">
            <a:avLst/>
          </a:prstGeom>
          <a:noFill/>
          <a:ln/>
        </p:spPr>
        <p:txBody>
          <a:bodyPr wrap="square" lIns="0" tIns="0" rIns="0" bIns="0" rtlCol="0" anchor="ctr"/>
          <a:lstStyle/>
          <a:p>
            <a:pPr algn="l" indent="0" marL="0">
              <a:buNone/>
            </a:pPr>
            <a:r>
              <a:rPr lang="en-US" sz="4000" b="1" dirty="0">
                <a:solidFill>
                  <a:schemeClr val="accent1"/>
                </a:solidFill>
                <a:latin typeface="Calibri" pitchFamily="34" charset="0"/>
                <a:ea typeface="Calibri" pitchFamily="34" charset="-122"/>
                <a:cs typeface="Calibri" pitchFamily="34" charset="-120"/>
              </a:rPr>
              <a:t>Thank you</a:t>
            </a:r>
            <a:endParaRPr lang="en-US" sz="4000" dirty="0"/>
          </a:p>
        </p:txBody>
      </p:sp>
      <p:sp>
        <p:nvSpPr>
          <p:cNvPr id="3" name="Trupal Jageshkumar Patel card"/>
          <p:cNvSpPr/>
          <p:nvPr/>
        </p:nvSpPr>
        <p:spPr>
          <a:xfrm>
            <a:off x="548640" y="1645920"/>
            <a:ext cx="3840480" cy="1371600"/>
          </a:xfrm>
          <a:prstGeom prst="roundRect">
            <a:avLst>
              <a:gd name="adj" fmla="val 12000"/>
            </a:avLst>
          </a:prstGeom>
          <a:solidFill>
            <a:schemeClr val="accent3"/>
          </a:solidFill>
          <a:ln w="22225">
            <a:solidFill>
              <a:schemeClr val="accent1"/>
            </a:solidFill>
            <a:prstDash val="solid"/>
          </a:ln>
        </p:spPr>
      </p:sp>
      <p:sp>
        <p:nvSpPr>
          <p:cNvPr id="4" name="Trupal Jageshkumar Patel text"/>
          <p:cNvSpPr txBox="1"/>
          <p:nvPr/>
        </p:nvSpPr>
        <p:spPr>
          <a:xfrm>
            <a:off x="777240" y="1783080"/>
            <a:ext cx="3383280" cy="1097280"/>
          </a:xfrm>
          <a:prstGeom prst="rect">
            <a:avLst/>
          </a:prstGeom>
          <a:noFill/>
          <a:ln/>
        </p:spPr>
        <p:txBody>
          <a:bodyPr wrap="square" lIns="0" tIns="0" rIns="0" bIns="0" rtlCol="0" anchor="ctr"/>
          <a:lstStyle/>
          <a:p>
            <a:pPr indent="0" marL="0">
              <a:buNone/>
            </a:pPr>
            <a:r>
              <a:rPr lang="en-US" sz="1800" b="1" dirty="0">
                <a:solidFill>
                  <a:schemeClr val="tx1"/>
                </a:solidFill>
              </a:rPr>
              <a:t>Trupal Jageshkumar Patel</a:t>
            </a:r>
            <a:endParaRPr lang="en-US" sz="1800" dirty="0"/>
          </a:p>
          <a:p>
            <a:pPr indent="0" marL="0">
              <a:buNone/>
            </a:pPr>
            <a:r>
              <a:rPr lang="en-US" sz="1600" dirty="0">
                <a:solidFill>
                  <a:schemeClr val="tx1"/>
                </a:solidFill>
              </a:rPr>
              <a:t>Letters to Future Me</a:t>
            </a:r>
            <a:endParaRPr lang="en-US" sz="1800" dirty="0"/>
          </a:p>
        </p:txBody>
      </p:sp>
      <p:sp>
        <p:nvSpPr>
          <p:cNvPr id="5" name="Heta Vimaleshkumar Patel card"/>
          <p:cNvSpPr/>
          <p:nvPr/>
        </p:nvSpPr>
        <p:spPr>
          <a:xfrm>
            <a:off x="4754880" y="1645920"/>
            <a:ext cx="3840480" cy="1371600"/>
          </a:xfrm>
          <a:prstGeom prst="roundRect">
            <a:avLst>
              <a:gd name="adj" fmla="val 12000"/>
            </a:avLst>
          </a:prstGeom>
          <a:solidFill>
            <a:schemeClr val="accent2"/>
          </a:solidFill>
          <a:ln w="22225">
            <a:solidFill>
              <a:schemeClr val="accent1"/>
            </a:solidFill>
            <a:prstDash val="solid"/>
          </a:ln>
        </p:spPr>
      </p:sp>
      <p:sp>
        <p:nvSpPr>
          <p:cNvPr id="6" name="Heta Vimaleshkumar Patel text"/>
          <p:cNvSpPr txBox="1"/>
          <p:nvPr/>
        </p:nvSpPr>
        <p:spPr>
          <a:xfrm>
            <a:off x="4983480" y="1783080"/>
            <a:ext cx="3383280" cy="1097280"/>
          </a:xfrm>
          <a:prstGeom prst="rect">
            <a:avLst/>
          </a:prstGeom>
          <a:noFill/>
          <a:ln/>
        </p:spPr>
        <p:txBody>
          <a:bodyPr wrap="square" lIns="0" tIns="0" rIns="0" bIns="0" rtlCol="0" anchor="ctr"/>
          <a:lstStyle/>
          <a:p>
            <a:pPr indent="0" marL="0">
              <a:buNone/>
            </a:pPr>
            <a:r>
              <a:rPr lang="en-US" sz="1800" b="1" dirty="0">
                <a:solidFill>
                  <a:schemeClr val="tx1"/>
                </a:solidFill>
              </a:rPr>
              <a:t>Heta Vimaleshkumar Patel</a:t>
            </a:r>
            <a:endParaRPr lang="en-US" sz="1800" dirty="0"/>
          </a:p>
          <a:p>
            <a:pPr indent="0" marL="0">
              <a:buNone/>
            </a:pPr>
            <a:r>
              <a:rPr lang="en-US" sz="1600" dirty="0">
                <a:solidFill>
                  <a:schemeClr val="tx1"/>
                </a:solidFill>
              </a:rPr>
              <a:t>Memory Wall</a:t>
            </a:r>
            <a:endParaRPr lang="en-US" sz="1800" dirty="0"/>
          </a:p>
        </p:txBody>
      </p:sp>
      <p:sp>
        <p:nvSpPr>
          <p:cNvPr id="7" name="Shared setup"/>
          <p:cNvSpPr txBox="1"/>
          <p:nvPr/>
        </p:nvSpPr>
        <p:spPr>
          <a:xfrm>
            <a:off x="548640" y="3383280"/>
            <a:ext cx="8046720" cy="457200"/>
          </a:xfrm>
          <a:prstGeom prst="rect">
            <a:avLst/>
          </a:prstGeom>
          <a:noFill/>
          <a:ln/>
        </p:spPr>
        <p:txBody>
          <a:bodyPr wrap="square" lIns="0" tIns="0" rIns="0" bIns="0" rtlCol="0" anchor="ctr"/>
          <a:lstStyle/>
          <a:p>
            <a:pPr indent="0" marL="0">
              <a:buNone/>
            </a:pPr>
            <a:r>
              <a:rPr lang="en-US" sz="1600" dirty="0">
                <a:solidFill>
                  <a:schemeClr val="bg2"/>
                </a:solidFill>
              </a:rPr>
              <a:t>Shared setup: anonymous ID cookie, layout, ESLint and Prettier</a:t>
            </a:r>
            <a:endParaRPr lang="en-US" sz="1600" dirty="0"/>
          </a:p>
        </p:txBody>
      </p:sp>
      <p:sp>
        <p:nvSpPr>
          <p:cNvPr id="8" name="Questions"/>
          <p:cNvSpPr txBox="1"/>
          <p:nvPr/>
        </p:nvSpPr>
        <p:spPr>
          <a:xfrm>
            <a:off x="548640" y="4023360"/>
            <a:ext cx="8046720" cy="548640"/>
          </a:xfrm>
          <a:prstGeom prst="rect">
            <a:avLst/>
          </a:prstGeom>
          <a:noFill/>
          <a:ln/>
        </p:spPr>
        <p:txBody>
          <a:bodyPr wrap="square" lIns="0" tIns="0" rIns="0" bIns="0" rtlCol="0" anchor="ctr"/>
          <a:lstStyle/>
          <a:p>
            <a:pPr indent="0" marL="0">
              <a:buNone/>
            </a:pPr>
            <a:r>
              <a:rPr lang="en-US" sz="2400" b="1" dirty="0">
                <a:solidFill>
                  <a:schemeClr val="accent1"/>
                </a:solidFill>
              </a:rPr>
              <a:t>Questions?</a:t>
            </a:r>
            <a:endParaRPr lang="en-US" sz="2400" dirty="0"/>
          </a:p>
        </p:txBody>
      </p:sp>
    </p:spTree>
  </p:cSld>
  <p:clrMapOvr>
    <a:masterClrMapping/>
  </p:clrMapOvr>
</p:sld>
</file>

<file path=ppt/theme/theme1.xml><?xml version="1.0" encoding="utf-8"?>
<a:theme xmlns:a="http://schemas.openxmlformats.org/drawingml/2006/main" name="TimeCapsule Pastel">
  <a:themeElements>
    <a:clrScheme name="TimeCapsule Pastel">
      <a:dk1>
        <a:srgbClr val="3E2F5B"/>
      </a:dk1>
      <a:lt1>
        <a:srgbClr val="FFFFFF"/>
      </a:lt1>
      <a:dk2>
        <a:srgbClr val="75679A"/>
      </a:dk2>
      <a:lt2>
        <a:srgbClr val="F4EFFF"/>
      </a:lt2>
      <a:accent1>
        <a:srgbClr val="FFC2D8"/>
      </a:accent1>
      <a:accent2>
        <a:srgbClr val="C4ECDC"/>
      </a:accent2>
      <a:accent3>
        <a:srgbClr val="FFDCC7"/>
      </a:accent3>
      <a:accent4>
        <a:srgbClr val="FFF1B8"/>
      </a:accent4>
      <a:accent5>
        <a:srgbClr val="CFE3FF"/>
      </a:accent5>
      <a:accent6>
        <a:srgbClr val="F28CB1"/>
      </a:accent6>
      <a:hlink>
        <a:srgbClr val="75679A"/>
      </a:hlink>
      <a:folHlink>
        <a:srgbClr val="75679A"/>
      </a:folHlink>
    </a:clrScheme>
    <a:fontScheme name="TimeCapsule Pastel">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TimeCapsule: Letters to the Future &amp; Memory Wall</dc:title>
  <dc:subject>PptxGenJS Presentation</dc:subject>
  <dc:creator>Trupal Jageshkumar Patel, Heta Vimaleshkumar Patel</dc:creator>
  <cp:lastModifiedBy>Trupal Jageshkumar Patel, Heta Vimaleshkumar Patel</cp:lastModifiedBy>
  <cp:revision>1</cp:revision>
  <dcterms:created xsi:type="dcterms:W3CDTF">2026-10-20T16:53:25Z</dcterms:created>
  <dcterms:modified xsi:type="dcterms:W3CDTF">2026-10-20T16:53:25Z</dcterms:modified>
</cp:coreProperties>
</file>